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4E60"/>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56032"/>
          </a:xfrm>
          <a:prstGeom prst="rect">
            <a:avLst/>
          </a:prstGeom>
          <a:noFill/>
          <a:ln/>
        </p:spPr>
        <p:txBody>
          <a:bodyPr wrap="square" lIns="0" tIns="0" rIns="0" bIns="0" rtlCol="0" anchor="ctr"/>
          <a:lstStyle/>
          <a:p>
            <a:pPr indent="0" marL="0">
              <a:buNone/>
            </a:pPr>
            <a:r>
              <a:rPr lang="en-US" sz="1200" b="1" spc="100" kern="0" dirty="0">
                <a:solidFill>
                  <a:srgbClr val="AEBACB"/>
                </a:solidFill>
                <a:latin typeface="Yu Gothic" pitchFamily="34" charset="0"/>
                <a:ea typeface="Yu Gothic" pitchFamily="34" charset="-122"/>
                <a:cs typeface="Yu Gothic" pitchFamily="34" charset="-120"/>
              </a:rPr>
              <a:t>Mini Nowcast ｜ 技術資料</a:t>
            </a:r>
            <a:endParaRPr lang="en-US" sz="1200" dirty="0"/>
          </a:p>
        </p:txBody>
      </p:sp>
      <p:sp>
        <p:nvSpPr>
          <p:cNvPr id="3" name="Text 1"/>
          <p:cNvSpPr txBox="1"/>
          <p:nvPr/>
        </p:nvSpPr>
        <p:spPr>
          <a:xfrm>
            <a:off x="548640" y="658368"/>
            <a:ext cx="11064240" cy="502920"/>
          </a:xfrm>
          <a:prstGeom prst="rect">
            <a:avLst/>
          </a:prstGeom>
          <a:noFill/>
          <a:ln/>
        </p:spPr>
        <p:txBody>
          <a:bodyPr wrap="square" lIns="0" tIns="0" rIns="0" bIns="0" rtlCol="0" anchor="ctr"/>
          <a:lstStyle/>
          <a:p>
            <a:pPr indent="0" marL="0">
              <a:buNone/>
            </a:pPr>
            <a:r>
              <a:rPr lang="en-US" sz="2800" b="1" dirty="0">
                <a:solidFill>
                  <a:srgbClr val="FFFFFF"/>
                </a:solidFill>
                <a:latin typeface="Yu Gothic" pitchFamily="34" charset="0"/>
                <a:ea typeface="Yu Gothic" pitchFamily="34" charset="-122"/>
                <a:cs typeface="Yu Gothic" pitchFamily="34" charset="-120"/>
              </a:rPr>
              <a:t>アーキテクチャ</a:t>
            </a:r>
            <a:endParaRPr lang="en-US" sz="2800" dirty="0"/>
          </a:p>
        </p:txBody>
      </p:sp>
      <p:sp>
        <p:nvSpPr>
          <p:cNvPr id="4" name="Text 2"/>
          <p:cNvSpPr txBox="1"/>
          <p:nvPr/>
        </p:nvSpPr>
        <p:spPr>
          <a:xfrm>
            <a:off x="548640" y="1636776"/>
            <a:ext cx="1371600" cy="292608"/>
          </a:xfrm>
          <a:prstGeom prst="rect">
            <a:avLst/>
          </a:prstGeom>
          <a:noFill/>
          <a:ln/>
        </p:spPr>
        <p:txBody>
          <a:bodyPr wrap="square" lIns="0" tIns="0" rIns="0" bIns="0" rtlCol="0" anchor="ctr"/>
          <a:lstStyle/>
          <a:p>
            <a:pPr indent="0" marL="0">
              <a:buNone/>
            </a:pPr>
            <a:r>
              <a:rPr lang="en-US" sz="1150" b="1" dirty="0">
                <a:solidFill>
                  <a:srgbClr val="AEBACB"/>
                </a:solidFill>
                <a:latin typeface="Yu Gothic" pitchFamily="34" charset="0"/>
                <a:ea typeface="Yu Gothic" pitchFamily="34" charset="-122"/>
                <a:cs typeface="Yu Gothic" pitchFamily="34" charset="-120"/>
              </a:rPr>
              <a:t>① 取込</a:t>
            </a:r>
            <a:endParaRPr lang="en-US" sz="1150" dirty="0"/>
          </a:p>
        </p:txBody>
      </p:sp>
      <p:sp>
        <p:nvSpPr>
          <p:cNvPr id="5" name="Shape 3"/>
          <p:cNvSpPr/>
          <p:nvPr/>
        </p:nvSpPr>
        <p:spPr>
          <a:xfrm>
            <a:off x="1965960" y="1325880"/>
            <a:ext cx="3057144" cy="914400"/>
          </a:xfrm>
          <a:prstGeom prst="roundRect">
            <a:avLst>
              <a:gd name="adj" fmla="val 8000"/>
            </a:avLst>
          </a:prstGeom>
          <a:solidFill>
            <a:srgbClr val="556175"/>
          </a:solidFill>
          <a:ln/>
        </p:spPr>
      </p:sp>
      <p:sp>
        <p:nvSpPr>
          <p:cNvPr id="6" name="Text 4"/>
          <p:cNvSpPr txBox="1"/>
          <p:nvPr/>
        </p:nvSpPr>
        <p:spPr>
          <a:xfrm>
            <a:off x="2112264" y="1444752"/>
            <a:ext cx="2764536"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xlsx（公開データ）</a:t>
            </a:r>
            <a:endParaRPr lang="en-US" sz="1150" dirty="0"/>
          </a:p>
        </p:txBody>
      </p:sp>
      <p:sp>
        <p:nvSpPr>
          <p:cNvPr id="7" name="Text 5"/>
          <p:cNvSpPr txBox="1"/>
          <p:nvPr/>
        </p:nvSpPr>
        <p:spPr>
          <a:xfrm>
            <a:off x="2112264" y="1709928"/>
            <a:ext cx="2764536" cy="43891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UCI Online Retail II ／ 英国小売 2 年分 ／ 1,067,371 行</a:t>
            </a:r>
            <a:endParaRPr lang="en-US" sz="950" dirty="0"/>
          </a:p>
        </p:txBody>
      </p:sp>
      <p:sp>
        <p:nvSpPr>
          <p:cNvPr id="8" name="Shape 6"/>
          <p:cNvSpPr/>
          <p:nvPr/>
        </p:nvSpPr>
        <p:spPr>
          <a:xfrm>
            <a:off x="5055108" y="1700784"/>
            <a:ext cx="173736" cy="164592"/>
          </a:xfrm>
          <a:prstGeom prst="rightArrow">
            <a:avLst/>
          </a:prstGeom>
          <a:solidFill>
            <a:srgbClr val="AEBACB"/>
          </a:solidFill>
          <a:ln/>
        </p:spPr>
      </p:sp>
      <p:sp>
        <p:nvSpPr>
          <p:cNvPr id="9" name="Shape 7"/>
          <p:cNvSpPr/>
          <p:nvPr/>
        </p:nvSpPr>
        <p:spPr>
          <a:xfrm>
            <a:off x="5260848" y="1325880"/>
            <a:ext cx="3057144" cy="914400"/>
          </a:xfrm>
          <a:prstGeom prst="roundRect">
            <a:avLst>
              <a:gd name="adj" fmla="val 8000"/>
            </a:avLst>
          </a:prstGeom>
          <a:solidFill>
            <a:srgbClr val="556175"/>
          </a:solidFill>
          <a:ln/>
        </p:spPr>
      </p:sp>
      <p:sp>
        <p:nvSpPr>
          <p:cNvPr id="10" name="Text 8"/>
          <p:cNvSpPr txBox="1"/>
          <p:nvPr/>
        </p:nvSpPr>
        <p:spPr>
          <a:xfrm>
            <a:off x="5407152" y="1444752"/>
            <a:ext cx="2764536"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ingest/load_raw.py</a:t>
            </a:r>
            <a:endParaRPr lang="en-US" sz="1150" dirty="0"/>
          </a:p>
        </p:txBody>
      </p:sp>
      <p:sp>
        <p:nvSpPr>
          <p:cNvPr id="11" name="Text 9"/>
          <p:cNvSpPr txBox="1"/>
          <p:nvPr/>
        </p:nvSpPr>
        <p:spPr>
          <a:xfrm>
            <a:off x="5407152" y="1709928"/>
            <a:ext cx="2764536" cy="43891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Parquet 化してキャッシュ ／ 取込行数を ingest_log に記録</a:t>
            </a:r>
            <a:endParaRPr lang="en-US" sz="950" dirty="0"/>
          </a:p>
        </p:txBody>
      </p:sp>
      <p:sp>
        <p:nvSpPr>
          <p:cNvPr id="12" name="Shape 10"/>
          <p:cNvSpPr/>
          <p:nvPr/>
        </p:nvSpPr>
        <p:spPr>
          <a:xfrm>
            <a:off x="8349996" y="1700784"/>
            <a:ext cx="173736" cy="164592"/>
          </a:xfrm>
          <a:prstGeom prst="rightArrow">
            <a:avLst/>
          </a:prstGeom>
          <a:solidFill>
            <a:srgbClr val="AEBACB"/>
          </a:solidFill>
          <a:ln/>
        </p:spPr>
      </p:sp>
      <p:sp>
        <p:nvSpPr>
          <p:cNvPr id="13" name="Shape 11"/>
          <p:cNvSpPr/>
          <p:nvPr/>
        </p:nvSpPr>
        <p:spPr>
          <a:xfrm>
            <a:off x="8555736" y="1325880"/>
            <a:ext cx="3057144" cy="914400"/>
          </a:xfrm>
          <a:prstGeom prst="roundRect">
            <a:avLst>
              <a:gd name="adj" fmla="val 8000"/>
            </a:avLst>
          </a:prstGeom>
          <a:solidFill>
            <a:srgbClr val="556175"/>
          </a:solidFill>
          <a:ln/>
        </p:spPr>
      </p:sp>
      <p:sp>
        <p:nvSpPr>
          <p:cNvPr id="14" name="Text 12"/>
          <p:cNvSpPr txBox="1"/>
          <p:nvPr/>
        </p:nvSpPr>
        <p:spPr>
          <a:xfrm>
            <a:off x="8702040" y="1444752"/>
            <a:ext cx="2764536"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DuckDB : raw</a:t>
            </a:r>
            <a:endParaRPr lang="en-US" sz="1150" dirty="0"/>
          </a:p>
        </p:txBody>
      </p:sp>
      <p:sp>
        <p:nvSpPr>
          <p:cNvPr id="15" name="Text 13"/>
          <p:cNvSpPr txBox="1"/>
          <p:nvPr/>
        </p:nvSpPr>
        <p:spPr>
          <a:xfrm>
            <a:off x="8702040" y="1709928"/>
            <a:ext cx="2764536" cy="43891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単一ファイル 166 MB ／ 型はソースのまま保持</a:t>
            </a:r>
            <a:endParaRPr lang="en-US" sz="950" dirty="0"/>
          </a:p>
        </p:txBody>
      </p:sp>
      <p:sp>
        <p:nvSpPr>
          <p:cNvPr id="16" name="Shape 14"/>
          <p:cNvSpPr/>
          <p:nvPr/>
        </p:nvSpPr>
        <p:spPr>
          <a:xfrm>
            <a:off x="6583680" y="2331720"/>
            <a:ext cx="164592" cy="237744"/>
          </a:xfrm>
          <a:prstGeom prst="downArrow">
            <a:avLst/>
          </a:prstGeom>
          <a:solidFill>
            <a:srgbClr val="AEBACB"/>
          </a:solidFill>
          <a:ln/>
        </p:spPr>
      </p:sp>
      <p:sp>
        <p:nvSpPr>
          <p:cNvPr id="17" name="Text 15"/>
          <p:cNvSpPr txBox="1"/>
          <p:nvPr/>
        </p:nvSpPr>
        <p:spPr>
          <a:xfrm>
            <a:off x="6949440" y="2313432"/>
            <a:ext cx="4663440" cy="274320"/>
          </a:xfrm>
          <a:prstGeom prst="rect">
            <a:avLst/>
          </a:prstGeom>
          <a:noFill/>
          <a:ln/>
        </p:spPr>
        <p:txBody>
          <a:bodyPr wrap="square" lIns="0" tIns="0" rIns="0" bIns="0" rtlCol="0" anchor="ctr"/>
          <a:lstStyle/>
          <a:p>
            <a:pPr indent="0" marL="0">
              <a:buNone/>
            </a:pPr>
            <a:r>
              <a:rPr lang="en-US" sz="950" dirty="0">
                <a:solidFill>
                  <a:srgbClr val="AEBACB"/>
                </a:solidFill>
                <a:latin typeface="Yu Gothic" pitchFamily="34" charset="0"/>
                <a:ea typeface="Yu Gothic" pitchFamily="34" charset="-122"/>
                <a:cs typeface="Yu Gothic" pitchFamily="34" charset="-120"/>
              </a:rPr>
              <a:t>ここから先は SQL（dbt がモデルの依存 DAG を決定：16 モデル）</a:t>
            </a:r>
            <a:endParaRPr lang="en-US" sz="950" dirty="0"/>
          </a:p>
        </p:txBody>
      </p:sp>
      <p:sp>
        <p:nvSpPr>
          <p:cNvPr id="18" name="Text 16"/>
          <p:cNvSpPr txBox="1"/>
          <p:nvPr/>
        </p:nvSpPr>
        <p:spPr>
          <a:xfrm>
            <a:off x="548640" y="3076956"/>
            <a:ext cx="1371600" cy="292608"/>
          </a:xfrm>
          <a:prstGeom prst="rect">
            <a:avLst/>
          </a:prstGeom>
          <a:noFill/>
          <a:ln/>
        </p:spPr>
        <p:txBody>
          <a:bodyPr wrap="square" lIns="0" tIns="0" rIns="0" bIns="0" rtlCol="0" anchor="ctr"/>
          <a:lstStyle/>
          <a:p>
            <a:pPr indent="0" marL="0">
              <a:buNone/>
            </a:pPr>
            <a:r>
              <a:rPr lang="en-US" sz="1150" b="1" dirty="0">
                <a:solidFill>
                  <a:srgbClr val="AEBACB"/>
                </a:solidFill>
                <a:latin typeface="Yu Gothic" pitchFamily="34" charset="0"/>
                <a:ea typeface="Yu Gothic" pitchFamily="34" charset="-122"/>
                <a:cs typeface="Yu Gothic" pitchFamily="34" charset="-120"/>
              </a:rPr>
              <a:t>② 変換 (dbt)</a:t>
            </a:r>
            <a:endParaRPr lang="en-US" sz="1150" dirty="0"/>
          </a:p>
        </p:txBody>
      </p:sp>
      <p:sp>
        <p:nvSpPr>
          <p:cNvPr id="19" name="Shape 17"/>
          <p:cNvSpPr/>
          <p:nvPr/>
        </p:nvSpPr>
        <p:spPr>
          <a:xfrm>
            <a:off x="1965960" y="2697480"/>
            <a:ext cx="3057144" cy="1051560"/>
          </a:xfrm>
          <a:prstGeom prst="roundRect">
            <a:avLst>
              <a:gd name="adj" fmla="val 6957"/>
            </a:avLst>
          </a:prstGeom>
          <a:solidFill>
            <a:srgbClr val="556175"/>
          </a:solidFill>
          <a:ln/>
        </p:spPr>
      </p:sp>
      <p:sp>
        <p:nvSpPr>
          <p:cNvPr id="20" name="Text 18"/>
          <p:cNvSpPr txBox="1"/>
          <p:nvPr/>
        </p:nvSpPr>
        <p:spPr>
          <a:xfrm>
            <a:off x="2112264" y="2816352"/>
            <a:ext cx="2764536"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staging</a:t>
            </a:r>
            <a:endParaRPr lang="en-US" sz="1150" dirty="0"/>
          </a:p>
        </p:txBody>
      </p:sp>
      <p:sp>
        <p:nvSpPr>
          <p:cNvPr id="21" name="Text 19"/>
          <p:cNvSpPr txBox="1"/>
          <p:nvPr/>
        </p:nvSpPr>
        <p:spPr>
          <a:xfrm>
            <a:off x="2112264" y="3081528"/>
            <a:ext cx="2764536" cy="57607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型変換・列名統一 ／ 2 シート重複（2010-12-01〜09, 22,523 行）を除去</a:t>
            </a:r>
            <a:endParaRPr lang="en-US" sz="950" dirty="0"/>
          </a:p>
        </p:txBody>
      </p:sp>
      <p:sp>
        <p:nvSpPr>
          <p:cNvPr id="22" name="Shape 20"/>
          <p:cNvSpPr/>
          <p:nvPr/>
        </p:nvSpPr>
        <p:spPr>
          <a:xfrm>
            <a:off x="5055108" y="3140964"/>
            <a:ext cx="173736" cy="164592"/>
          </a:xfrm>
          <a:prstGeom prst="rightArrow">
            <a:avLst/>
          </a:prstGeom>
          <a:solidFill>
            <a:srgbClr val="AEBACB"/>
          </a:solidFill>
          <a:ln/>
        </p:spPr>
      </p:sp>
      <p:sp>
        <p:nvSpPr>
          <p:cNvPr id="23" name="Shape 21"/>
          <p:cNvSpPr/>
          <p:nvPr/>
        </p:nvSpPr>
        <p:spPr>
          <a:xfrm>
            <a:off x="5260848" y="2697480"/>
            <a:ext cx="3057144" cy="1051560"/>
          </a:xfrm>
          <a:prstGeom prst="roundRect">
            <a:avLst>
              <a:gd name="adj" fmla="val 6957"/>
            </a:avLst>
          </a:prstGeom>
          <a:solidFill>
            <a:srgbClr val="556175"/>
          </a:solidFill>
          <a:ln/>
        </p:spPr>
      </p:sp>
      <p:sp>
        <p:nvSpPr>
          <p:cNvPr id="24" name="Text 22"/>
          <p:cNvSpPr txBox="1"/>
          <p:nvPr/>
        </p:nvSpPr>
        <p:spPr>
          <a:xfrm>
            <a:off x="5407152" y="2816352"/>
            <a:ext cx="2764536"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intermediate</a:t>
            </a:r>
            <a:endParaRPr lang="en-US" sz="1150" dirty="0"/>
          </a:p>
        </p:txBody>
      </p:sp>
      <p:sp>
        <p:nvSpPr>
          <p:cNvPr id="25" name="Text 23"/>
          <p:cNvSpPr txBox="1"/>
          <p:nvPr/>
        </p:nvSpPr>
        <p:spPr>
          <a:xfrm>
            <a:off x="5407152" y="3081528"/>
            <a:ext cx="2764536" cy="57607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除外理由を付けて保持 → 商品 × 価格チャネル × 期間の単価を算出</a:t>
            </a:r>
            <a:endParaRPr lang="en-US" sz="950" dirty="0"/>
          </a:p>
        </p:txBody>
      </p:sp>
      <p:sp>
        <p:nvSpPr>
          <p:cNvPr id="26" name="Shape 24"/>
          <p:cNvSpPr/>
          <p:nvPr/>
        </p:nvSpPr>
        <p:spPr>
          <a:xfrm>
            <a:off x="8349996" y="3140964"/>
            <a:ext cx="173736" cy="164592"/>
          </a:xfrm>
          <a:prstGeom prst="rightArrow">
            <a:avLst/>
          </a:prstGeom>
          <a:solidFill>
            <a:srgbClr val="AEBACB"/>
          </a:solidFill>
          <a:ln/>
        </p:spPr>
      </p:sp>
      <p:sp>
        <p:nvSpPr>
          <p:cNvPr id="27" name="Shape 25"/>
          <p:cNvSpPr/>
          <p:nvPr/>
        </p:nvSpPr>
        <p:spPr>
          <a:xfrm>
            <a:off x="8555736" y="2697480"/>
            <a:ext cx="3057144" cy="1051560"/>
          </a:xfrm>
          <a:prstGeom prst="roundRect">
            <a:avLst>
              <a:gd name="adj" fmla="val 6957"/>
            </a:avLst>
          </a:prstGeom>
          <a:solidFill>
            <a:srgbClr val="DCE2EA"/>
          </a:solidFill>
          <a:ln/>
        </p:spPr>
      </p:sp>
      <p:sp>
        <p:nvSpPr>
          <p:cNvPr id="28" name="Text 26"/>
          <p:cNvSpPr txBox="1"/>
          <p:nvPr/>
        </p:nvSpPr>
        <p:spPr>
          <a:xfrm>
            <a:off x="8702040" y="2816352"/>
            <a:ext cx="2764536" cy="237744"/>
          </a:xfrm>
          <a:prstGeom prst="rect">
            <a:avLst/>
          </a:prstGeom>
          <a:noFill/>
          <a:ln/>
        </p:spPr>
        <p:txBody>
          <a:bodyPr wrap="square" lIns="0" tIns="0" rIns="0" bIns="0" rtlCol="0" anchor="ctr"/>
          <a:lstStyle/>
          <a:p>
            <a:pPr indent="0" marL="0">
              <a:buNone/>
            </a:pPr>
            <a:r>
              <a:rPr lang="en-US" sz="1150" b="1" dirty="0">
                <a:solidFill>
                  <a:srgbClr val="434E60"/>
                </a:solidFill>
                <a:latin typeface="Yu Gothic" pitchFamily="34" charset="0"/>
                <a:ea typeface="Yu Gothic" pitchFamily="34" charset="-122"/>
                <a:cs typeface="Yu Gothic" pitchFamily="34" charset="-120"/>
              </a:rPr>
              <a:t>marts</a:t>
            </a:r>
            <a:endParaRPr lang="en-US" sz="1150" dirty="0"/>
          </a:p>
        </p:txBody>
      </p:sp>
      <p:sp>
        <p:nvSpPr>
          <p:cNvPr id="29" name="Text 27"/>
          <p:cNvSpPr txBox="1"/>
          <p:nvPr/>
        </p:nvSpPr>
        <p:spPr>
          <a:xfrm>
            <a:off x="8702040" y="3081528"/>
            <a:ext cx="2764536" cy="576072"/>
          </a:xfrm>
          <a:prstGeom prst="rect">
            <a:avLst/>
          </a:prstGeom>
          <a:noFill/>
          <a:ln/>
        </p:spPr>
        <p:txBody>
          <a:bodyPr wrap="square" lIns="0" tIns="0" rIns="0" bIns="0" rtlCol="0" anchor="ctr"/>
          <a:lstStyle/>
          <a:p>
            <a:pPr indent="0" marL="0">
              <a:lnSpc>
                <a:spcPts val="1300"/>
              </a:lnSpc>
              <a:buNone/>
            </a:pPr>
            <a:r>
              <a:rPr lang="en-US" sz="950" dirty="0">
                <a:solidFill>
                  <a:srgbClr val="434E60"/>
                </a:solidFill>
                <a:latin typeface="Yu Gothic" pitchFamily="34" charset="0"/>
                <a:ea typeface="Yu Gothic" pitchFamily="34" charset="-122"/>
                <a:cs typeface="Yu Gothic" pitchFamily="34" charset="-120"/>
              </a:rPr>
              <a:t>物価指数（日次・月次・カテゴリ別）／ 寄与度 ／ 売上 ／ データ品質</a:t>
            </a:r>
            <a:endParaRPr lang="en-US" sz="950" dirty="0"/>
          </a:p>
        </p:txBody>
      </p:sp>
      <p:sp>
        <p:nvSpPr>
          <p:cNvPr id="30" name="Shape 28"/>
          <p:cNvSpPr/>
          <p:nvPr/>
        </p:nvSpPr>
        <p:spPr>
          <a:xfrm>
            <a:off x="6583680" y="3886200"/>
            <a:ext cx="164592" cy="237744"/>
          </a:xfrm>
          <a:prstGeom prst="downArrow">
            <a:avLst/>
          </a:prstGeom>
          <a:solidFill>
            <a:srgbClr val="AEBACB"/>
          </a:solidFill>
          <a:ln/>
        </p:spPr>
      </p:sp>
      <p:sp>
        <p:nvSpPr>
          <p:cNvPr id="31" name="Text 29"/>
          <p:cNvSpPr txBox="1"/>
          <p:nvPr/>
        </p:nvSpPr>
        <p:spPr>
          <a:xfrm>
            <a:off x="6949440" y="3867912"/>
            <a:ext cx="4663440" cy="274320"/>
          </a:xfrm>
          <a:prstGeom prst="rect">
            <a:avLst/>
          </a:prstGeom>
          <a:noFill/>
          <a:ln/>
        </p:spPr>
        <p:txBody>
          <a:bodyPr wrap="square" lIns="0" tIns="0" rIns="0" bIns="0" rtlCol="0" anchor="ctr"/>
          <a:lstStyle/>
          <a:p>
            <a:pPr indent="0" marL="0">
              <a:buNone/>
            </a:pPr>
            <a:r>
              <a:rPr lang="en-US" sz="950" dirty="0">
                <a:solidFill>
                  <a:srgbClr val="AEBACB"/>
                </a:solidFill>
                <a:latin typeface="Yu Gothic" pitchFamily="34" charset="0"/>
                <a:ea typeface="Yu Gothic" pitchFamily="34" charset="-122"/>
                <a:cs typeface="Yu Gothic" pitchFamily="34" charset="-120"/>
              </a:rPr>
              <a:t>28 件の dbt テスト（一般・恒等式・意味層との整合）が全モデルに紐づく</a:t>
            </a:r>
            <a:endParaRPr lang="en-US" sz="950" dirty="0"/>
          </a:p>
        </p:txBody>
      </p:sp>
      <p:sp>
        <p:nvSpPr>
          <p:cNvPr id="32" name="Text 30"/>
          <p:cNvSpPr txBox="1"/>
          <p:nvPr/>
        </p:nvSpPr>
        <p:spPr>
          <a:xfrm>
            <a:off x="548640" y="4631436"/>
            <a:ext cx="1371600" cy="292608"/>
          </a:xfrm>
          <a:prstGeom prst="rect">
            <a:avLst/>
          </a:prstGeom>
          <a:noFill/>
          <a:ln/>
        </p:spPr>
        <p:txBody>
          <a:bodyPr wrap="square" lIns="0" tIns="0" rIns="0" bIns="0" rtlCol="0" anchor="ctr"/>
          <a:lstStyle/>
          <a:p>
            <a:pPr indent="0" marL="0">
              <a:buNone/>
            </a:pPr>
            <a:r>
              <a:rPr lang="en-US" sz="1150" b="1" dirty="0">
                <a:solidFill>
                  <a:srgbClr val="AEBACB"/>
                </a:solidFill>
                <a:latin typeface="Yu Gothic" pitchFamily="34" charset="0"/>
                <a:ea typeface="Yu Gothic" pitchFamily="34" charset="-122"/>
                <a:cs typeface="Yu Gothic" pitchFamily="34" charset="-120"/>
              </a:rPr>
              <a:t>③ 出力</a:t>
            </a:r>
            <a:endParaRPr lang="en-US" sz="1150" dirty="0"/>
          </a:p>
        </p:txBody>
      </p:sp>
      <p:sp>
        <p:nvSpPr>
          <p:cNvPr id="33" name="Shape 31"/>
          <p:cNvSpPr/>
          <p:nvPr/>
        </p:nvSpPr>
        <p:spPr>
          <a:xfrm>
            <a:off x="1965960" y="4251960"/>
            <a:ext cx="4704588" cy="1051560"/>
          </a:xfrm>
          <a:prstGeom prst="roundRect">
            <a:avLst>
              <a:gd name="adj" fmla="val 6957"/>
            </a:avLst>
          </a:prstGeom>
          <a:solidFill>
            <a:srgbClr val="556175"/>
          </a:solidFill>
          <a:ln/>
        </p:spPr>
      </p:sp>
      <p:sp>
        <p:nvSpPr>
          <p:cNvPr id="34" name="Text 32"/>
          <p:cNvSpPr txBox="1"/>
          <p:nvPr/>
        </p:nvSpPr>
        <p:spPr>
          <a:xfrm>
            <a:off x="2112264" y="4370832"/>
            <a:ext cx="4411980"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Streamlit ダッシュボード</a:t>
            </a:r>
            <a:endParaRPr lang="en-US" sz="1150" dirty="0"/>
          </a:p>
        </p:txBody>
      </p:sp>
      <p:sp>
        <p:nvSpPr>
          <p:cNvPr id="35" name="Text 33"/>
          <p:cNvSpPr txBox="1"/>
          <p:nvPr/>
        </p:nvSpPr>
        <p:spPr>
          <a:xfrm>
            <a:off x="2112264" y="4636008"/>
            <a:ext cx="4411980" cy="57607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物価指数の 3 方式比較 ／ 寄与度 ／ クリーニング内訳 ／ 日次データ量の監視とアラート</a:t>
            </a:r>
            <a:endParaRPr lang="en-US" sz="950" dirty="0"/>
          </a:p>
        </p:txBody>
      </p:sp>
      <p:sp>
        <p:nvSpPr>
          <p:cNvPr id="36" name="Shape 34"/>
          <p:cNvSpPr/>
          <p:nvPr/>
        </p:nvSpPr>
        <p:spPr>
          <a:xfrm>
            <a:off x="6908292" y="4251960"/>
            <a:ext cx="4704588" cy="1051560"/>
          </a:xfrm>
          <a:prstGeom prst="roundRect">
            <a:avLst>
              <a:gd name="adj" fmla="val 6957"/>
            </a:avLst>
          </a:prstGeom>
          <a:solidFill>
            <a:srgbClr val="556175"/>
          </a:solidFill>
          <a:ln/>
        </p:spPr>
      </p:sp>
      <p:sp>
        <p:nvSpPr>
          <p:cNvPr id="37" name="Text 35"/>
          <p:cNvSpPr txBox="1"/>
          <p:nvPr/>
        </p:nvSpPr>
        <p:spPr>
          <a:xfrm>
            <a:off x="7054596" y="4370832"/>
            <a:ext cx="4411980" cy="237744"/>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AI アシスタント</a:t>
            </a:r>
            <a:endParaRPr lang="en-US" sz="1150" dirty="0"/>
          </a:p>
        </p:txBody>
      </p:sp>
      <p:sp>
        <p:nvSpPr>
          <p:cNvPr id="38" name="Text 36"/>
          <p:cNvSpPr txBox="1"/>
          <p:nvPr/>
        </p:nvSpPr>
        <p:spPr>
          <a:xfrm>
            <a:off x="7054596" y="4636008"/>
            <a:ext cx="4411980" cy="576072"/>
          </a:xfrm>
          <a:prstGeom prst="rect">
            <a:avLst/>
          </a:prstGeom>
          <a:noFill/>
          <a:ln/>
        </p:spPr>
        <p:txBody>
          <a:bodyPr wrap="square" lIns="0" tIns="0" rIns="0" bIns="0" rtlCol="0" anchor="ctr"/>
          <a:lstStyle/>
          <a:p>
            <a:pPr indent="0" marL="0">
              <a:lnSpc>
                <a:spcPts val="1300"/>
              </a:lnSpc>
              <a:buNone/>
            </a:pPr>
            <a:r>
              <a:rPr lang="en-US" sz="950" dirty="0">
                <a:solidFill>
                  <a:srgbClr val="DCE2EA"/>
                </a:solidFill>
                <a:latin typeface="Yu Gothic" pitchFamily="34" charset="0"/>
                <a:ea typeface="Yu Gothic" pitchFamily="34" charset="-122"/>
                <a:cs typeface="Yu Gothic" pitchFamily="34" charset="-120"/>
              </a:rPr>
              <a:t>意味層 → SQL 生成 → 構文木で検査 → read_only 実行 → 回答の数値を結果と照合</a:t>
            </a:r>
            <a:endParaRPr lang="en-US" sz="950" dirty="0"/>
          </a:p>
        </p:txBody>
      </p:sp>
      <p:sp>
        <p:nvSpPr>
          <p:cNvPr id="39" name="Text 37"/>
          <p:cNvSpPr txBox="1"/>
          <p:nvPr/>
        </p:nvSpPr>
        <p:spPr>
          <a:xfrm>
            <a:off x="548640" y="5669280"/>
            <a:ext cx="1828800" cy="256032"/>
          </a:xfrm>
          <a:prstGeom prst="rect">
            <a:avLst/>
          </a:prstGeom>
          <a:noFill/>
          <a:ln/>
        </p:spPr>
        <p:txBody>
          <a:bodyPr wrap="square" lIns="0" tIns="0" rIns="0" bIns="0" rtlCol="0" anchor="ctr"/>
          <a:lstStyle/>
          <a:p>
            <a:pPr indent="0" marL="0">
              <a:buNone/>
            </a:pPr>
            <a:r>
              <a:rPr lang="en-US" sz="1150" b="1" dirty="0">
                <a:solidFill>
                  <a:srgbClr val="AEBACB"/>
                </a:solidFill>
                <a:latin typeface="Yu Gothic" pitchFamily="34" charset="0"/>
                <a:ea typeface="Yu Gothic" pitchFamily="34" charset="-122"/>
                <a:cs typeface="Yu Gothic" pitchFamily="34" charset="-120"/>
              </a:rPr>
              <a:t>技術スタック</a:t>
            </a:r>
            <a:endParaRPr lang="en-US" sz="1150" dirty="0"/>
          </a:p>
        </p:txBody>
      </p:sp>
      <p:sp>
        <p:nvSpPr>
          <p:cNvPr id="40" name="Text 38"/>
          <p:cNvSpPr txBox="1"/>
          <p:nvPr/>
        </p:nvSpPr>
        <p:spPr>
          <a:xfrm>
            <a:off x="1965960" y="5650992"/>
            <a:ext cx="9646920" cy="548640"/>
          </a:xfrm>
          <a:prstGeom prst="rect">
            <a:avLst/>
          </a:prstGeom>
          <a:noFill/>
          <a:ln/>
        </p:spPr>
        <p:txBody>
          <a:bodyPr wrap="square" lIns="0" tIns="0" rIns="0" bIns="0" rtlCol="0" anchor="ctr"/>
          <a:lstStyle/>
          <a:p>
            <a:pPr indent="0" marL="0">
              <a:lnSpc>
                <a:spcPts val="1600"/>
              </a:lnSpc>
              <a:buNone/>
            </a:pPr>
            <a:r>
              <a:rPr lang="en-US" sz="1000" dirty="0">
                <a:solidFill>
                  <a:srgbClr val="DCE2EA"/>
                </a:solidFill>
                <a:latin typeface="Yu Gothic" pitchFamily="34" charset="0"/>
                <a:ea typeface="Yu Gothic" pitchFamily="34" charset="-122"/>
                <a:cs typeface="Yu Gothic" pitchFamily="34" charset="-120"/>
              </a:rPr>
              <a:t>Python 3.12 / uv　・　DuckDB 1.5　・　dbt 1.12（dbt-duckdb, macro / seed / test）　・　Streamlit + Plotly　・　sqlglot（SQL 構文木検査）　・　pytest 26 件　・　OpenAI 互換 LLM API（DeepSeek / OpenAI / Ollama を環境変数で切替）</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56032"/>
          </a:xfrm>
          <a:prstGeom prst="rect">
            <a:avLst/>
          </a:prstGeom>
          <a:noFill/>
          <a:ln/>
        </p:spPr>
        <p:txBody>
          <a:bodyPr wrap="square" lIns="0" tIns="0" rIns="0" bIns="0" rtlCol="0" anchor="ctr"/>
          <a:lstStyle/>
          <a:p>
            <a:pPr indent="0" marL="0">
              <a:buNone/>
            </a:pPr>
            <a:r>
              <a:rPr lang="en-US" sz="1200" b="1" spc="100" kern="0" dirty="0">
                <a:solidFill>
                  <a:srgbClr val="EB6834"/>
                </a:solidFill>
                <a:latin typeface="Yu Gothic" pitchFamily="34" charset="0"/>
                <a:ea typeface="Yu Gothic" pitchFamily="34" charset="-122"/>
                <a:cs typeface="Yu Gothic" pitchFamily="34" charset="-120"/>
              </a:rPr>
              <a:t>決定 ①</a:t>
            </a:r>
            <a:endParaRPr lang="en-US" sz="1200" dirty="0"/>
          </a:p>
        </p:txBody>
      </p:sp>
      <p:sp>
        <p:nvSpPr>
          <p:cNvPr id="3" name="Text 1"/>
          <p:cNvSpPr txBox="1"/>
          <p:nvPr/>
        </p:nvSpPr>
        <p:spPr>
          <a:xfrm>
            <a:off x="548640" y="658368"/>
            <a:ext cx="11064240" cy="502920"/>
          </a:xfrm>
          <a:prstGeom prst="rect">
            <a:avLst/>
          </a:prstGeom>
          <a:noFill/>
          <a:ln/>
        </p:spPr>
        <p:txBody>
          <a:bodyPr wrap="square" lIns="0" tIns="0" rIns="0" bIns="0" rtlCol="0" anchor="ctr"/>
          <a:lstStyle/>
          <a:p>
            <a:pPr indent="0" marL="0">
              <a:buNone/>
            </a:pPr>
            <a:r>
              <a:rPr lang="en-US" sz="2800" b="1" dirty="0">
                <a:solidFill>
                  <a:srgbClr val="232A36"/>
                </a:solidFill>
                <a:latin typeface="Yu Gothic" pitchFamily="34" charset="0"/>
                <a:ea typeface="Yu Gothic" pitchFamily="34" charset="-122"/>
                <a:cs typeface="Yu Gothic" pitchFamily="34" charset="-120"/>
              </a:rPr>
              <a:t>何と何を比べるか：価格チャネルの分離</a:t>
            </a:r>
            <a:endParaRPr lang="en-US" sz="2800" dirty="0"/>
          </a:p>
        </p:txBody>
      </p:sp>
      <p:sp>
        <p:nvSpPr>
          <p:cNvPr id="4" name="Text 2"/>
          <p:cNvSpPr txBox="1"/>
          <p:nvPr/>
        </p:nvSpPr>
        <p:spPr>
          <a:xfrm>
            <a:off x="548640" y="1371600"/>
            <a:ext cx="55778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課題</a:t>
            </a:r>
            <a:endParaRPr lang="en-US" sz="1150" dirty="0"/>
          </a:p>
        </p:txBody>
      </p:sp>
      <p:sp>
        <p:nvSpPr>
          <p:cNvPr id="5" name="Text 3"/>
          <p:cNvSpPr txBox="1"/>
          <p:nvPr/>
        </p:nvSpPr>
        <p:spPr>
          <a:xfrm>
            <a:off x="548640" y="1664208"/>
            <a:ext cx="5577840" cy="941832"/>
          </a:xfrm>
          <a:prstGeom prst="rect">
            <a:avLst/>
          </a:prstGeom>
          <a:noFill/>
          <a:ln/>
        </p:spPr>
        <p:txBody>
          <a:bodyPr wrap="square" lIns="0" tIns="0" rIns="0" bIns="0" rtlCol="0" anchor="ctr"/>
          <a:lstStyle/>
          <a:p>
            <a:pPr indent="0" marL="0">
              <a:lnSpc>
                <a:spcPts val="2000"/>
              </a:lnSpc>
              <a:buNone/>
            </a:pPr>
            <a:r>
              <a:rPr lang="en-US" sz="1250" dirty="0">
                <a:solidFill>
                  <a:srgbClr val="232A36"/>
                </a:solidFill>
                <a:latin typeface="Yu Gothic" pitchFamily="34" charset="0"/>
                <a:ea typeface="Yu Gothic" pitchFamily="34" charset="-122"/>
                <a:cs typeface="Yu Gothic" pitchFamily="34" charset="-120"/>
              </a:rPr>
              <a:t>同じ商品でも、顧客 ID のない取引は登録顧客より単価が高い。商品単位で平均すると、チャネル構成が月ごとに変わるだけで「値上がり」に見えてしまう。</a:t>
            </a:r>
            <a:endParaRPr lang="en-US" sz="1250" dirty="0"/>
          </a:p>
        </p:txBody>
      </p:sp>
      <p:sp>
        <p:nvSpPr>
          <p:cNvPr id="6" name="Text 4"/>
          <p:cNvSpPr txBox="1"/>
          <p:nvPr/>
        </p:nvSpPr>
        <p:spPr>
          <a:xfrm>
            <a:off x="6492240" y="1371600"/>
            <a:ext cx="51206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商品 85123A の例</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92240" y="1682496"/>
          <a:ext cx="5120640" cy="914400"/>
        </p:xfrm>
        <a:graphic>
          <a:graphicData uri="http://schemas.openxmlformats.org/drawingml/2006/table">
            <a:tbl>
              <a:tblPr/>
              <a:tblGrid>
                <a:gridCol w="2377440"/>
                <a:gridCol w="1371600"/>
                <a:gridCol w="1371600"/>
              </a:tblGrid>
              <a:tr h="310896">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チャネル</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平均単価</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中央値数量</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顧客 ID なし（未登録）</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£5.42</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2 個</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登録顧客（卸売）</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£2.87</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100" dirty="0">
                          <a:solidFill>
                            <a:srgbClr val="232A36"/>
                          </a:solidFill>
                          <a:latin typeface="Yu Gothic" pitchFamily="34" charset="0"/>
                          <a:ea typeface="Yu Gothic" pitchFamily="34" charset="-122"/>
                          <a:cs typeface="Yu Gothic" pitchFamily="34" charset="-120"/>
                        </a:rPr>
                        <a:t>6 個</a:t>
                      </a:r>
                      <a:endParaRPr lang="en-US" sz="1100" dirty="0">
                        <a:latin typeface="Yu Gothic" charset="0"/>
                        <a:ea typeface="Yu Gothic" charset="0"/>
                        <a:cs typeface="Yu Gothic" charset="0"/>
                      </a:endParaRPr>
                    </a:p>
                  </a:txBody>
                  <a:tcPr marL="73152" marR="73152" marT="73152" marB="73152" anchor="ctr">
                    <a:lnL w="12700" cap="flat" cmpd="sng" algn="ctr">
                      <a:solidFill>
                        <a:srgbClr val="DDE2E9"/>
                      </a:solidFill>
                      <a:prstDash val="solid"/>
                      <a:round/>
                      <a:headEnd type="none" w="med" len="med"/>
                      <a:tailEnd type="none" w="med" len="med"/>
                    </a:lnL>
                    <a:lnR w="12700" cap="flat" cmpd="sng" algn="ctr">
                      <a:solidFill>
                        <a:srgbClr val="DDE2E9"/>
                      </a:solidFill>
                      <a:prstDash val="solid"/>
                      <a:round/>
                      <a:headEnd type="none" w="med" len="med"/>
                      <a:tailEnd type="none" w="med" len="med"/>
                    </a:lnR>
                    <a:lnT w="12700" cap="flat" cmpd="sng" algn="ctr">
                      <a:solidFill>
                        <a:srgbClr val="DDE2E9"/>
                      </a:solidFill>
                      <a:prstDash val="solid"/>
                      <a:round/>
                      <a:headEnd type="none" w="med" len="med"/>
                      <a:tailEnd type="none" w="med" len="med"/>
                    </a:lnT>
                    <a:lnB w="12700" cap="flat" cmpd="sng" algn="ctr">
                      <a:solidFill>
                        <a:srgbClr val="DDE2E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92240" y="2880360"/>
            <a:ext cx="5120640" cy="237744"/>
          </a:xfrm>
          <a:prstGeom prst="rect">
            <a:avLst/>
          </a:prstGeom>
          <a:noFill/>
          <a:ln/>
        </p:spPr>
        <p:txBody>
          <a:bodyPr wrap="square" lIns="0" tIns="0" rIns="0" bIns="0" rtlCol="0" anchor="ctr"/>
          <a:lstStyle/>
          <a:p>
            <a:pPr indent="0" marL="0">
              <a:buNone/>
            </a:pPr>
            <a:r>
              <a:rPr lang="en-US" sz="1100" dirty="0">
                <a:solidFill>
                  <a:srgbClr val="636C7C"/>
                </a:solidFill>
                <a:latin typeface="Yu Gothic" pitchFamily="34" charset="0"/>
                <a:ea typeface="Yu Gothic" pitchFamily="34" charset="-122"/>
                <a:cs typeface="Yu Gothic" pitchFamily="34" charset="-120"/>
              </a:rPr>
              <a:t>商品×月の 63% が複数の単価を持つ（平均 1.97 通り）</a:t>
            </a:r>
            <a:endParaRPr lang="en-US" sz="1100" dirty="0"/>
          </a:p>
        </p:txBody>
      </p:sp>
      <p:sp>
        <p:nvSpPr>
          <p:cNvPr id="9" name="Text 6"/>
          <p:cNvSpPr txBox="1"/>
          <p:nvPr/>
        </p:nvSpPr>
        <p:spPr>
          <a:xfrm>
            <a:off x="548640" y="2743200"/>
            <a:ext cx="55778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判断</a:t>
            </a:r>
            <a:endParaRPr lang="en-US" sz="1150" dirty="0"/>
          </a:p>
        </p:txBody>
      </p:sp>
      <p:sp>
        <p:nvSpPr>
          <p:cNvPr id="10" name="Text 7"/>
          <p:cNvSpPr txBox="1"/>
          <p:nvPr/>
        </p:nvSpPr>
        <p:spPr>
          <a:xfrm>
            <a:off x="548640" y="3035808"/>
            <a:ext cx="5577840" cy="1078992"/>
          </a:xfrm>
          <a:prstGeom prst="rect">
            <a:avLst/>
          </a:prstGeom>
          <a:noFill/>
          <a:ln/>
        </p:spPr>
        <p:txBody>
          <a:bodyPr wrap="square" lIns="0" tIns="0" rIns="0" bIns="0" rtlCol="0" anchor="ctr"/>
          <a:lstStyle/>
          <a:p>
            <a:pPr indent="0" marL="0">
              <a:lnSpc>
                <a:spcPts val="2000"/>
              </a:lnSpc>
              <a:buNone/>
            </a:pPr>
            <a:r>
              <a:rPr lang="en-US" sz="1250" dirty="0">
                <a:solidFill>
                  <a:srgbClr val="232A36"/>
                </a:solidFill>
                <a:latin typeface="Yu Gothic" pitchFamily="34" charset="0"/>
                <a:ea typeface="Yu Gothic" pitchFamily="34" charset="-122"/>
                <a:cs typeface="Yu Gothic" pitchFamily="34" charset="-120"/>
              </a:rPr>
              <a:t>指数の比較単位を「商品」ではなく「商品 × 価格チャネル」にした。同じ商品でもチャネルが違えば別アイテムとして扱い、常に同じアイテム同士の価格を前期と比べる。</a:t>
            </a:r>
            <a:endParaRPr lang="en-US" sz="1250" dirty="0"/>
          </a:p>
        </p:txBody>
      </p:sp>
      <p:sp>
        <p:nvSpPr>
          <p:cNvPr id="11" name="Shape 8"/>
          <p:cNvSpPr/>
          <p:nvPr/>
        </p:nvSpPr>
        <p:spPr>
          <a:xfrm>
            <a:off x="548640" y="4224528"/>
            <a:ext cx="5577840" cy="1143000"/>
          </a:xfrm>
          <a:prstGeom prst="roundRect">
            <a:avLst>
              <a:gd name="adj" fmla="val 4800"/>
            </a:avLst>
          </a:prstGeom>
          <a:solidFill>
            <a:srgbClr val="EDF0F4"/>
          </a:solidFill>
          <a:ln/>
        </p:spPr>
      </p:sp>
      <p:sp>
        <p:nvSpPr>
          <p:cNvPr id="12" name="Text 9"/>
          <p:cNvSpPr txBox="1"/>
          <p:nvPr/>
        </p:nvSpPr>
        <p:spPr>
          <a:xfrm>
            <a:off x="713232" y="4352544"/>
            <a:ext cx="5248656" cy="886968"/>
          </a:xfrm>
          <a:prstGeom prst="rect">
            <a:avLst/>
          </a:prstGeom>
          <a:noFill/>
          <a:ln/>
        </p:spPr>
        <p:txBody>
          <a:bodyPr wrap="square" lIns="0" tIns="0" rIns="0" bIns="0" rtlCol="0" anchor="ctr"/>
          <a:lstStyle/>
          <a:p>
            <a:pPr indent="0" marL="0">
              <a:lnSpc>
                <a:spcPts val="1750"/>
              </a:lnSpc>
              <a:buNone/>
            </a:pPr>
            <a:r>
              <a:rPr lang="en-US" sz="1000" dirty="0">
                <a:solidFill>
                  <a:srgbClr val="434E60"/>
                </a:solidFill>
                <a:latin typeface="Courier New" pitchFamily="34" charset="0"/>
                <a:ea typeface="Courier New" pitchFamily="34" charset="-122"/>
                <a:cs typeface="Courier New" pitchFamily="34" charset="-120"/>
              </a:rPr>
              <a:t>case when customer_id is null</a:t>
            </a:r>
            <a:endParaRPr lang="en-US" sz="1000" dirty="0"/>
          </a:p>
          <a:p>
            <a:pPr indent="0" marL="0">
              <a:lnSpc>
                <a:spcPts val="1750"/>
              </a:lnSpc>
              <a:buNone/>
            </a:pPr>
            <a:r>
              <a:rPr lang="en-US" sz="1000" dirty="0">
                <a:solidFill>
                  <a:srgbClr val="434E60"/>
                </a:solidFill>
                <a:latin typeface="Courier New" pitchFamily="34" charset="0"/>
                <a:ea typeface="Courier New" pitchFamily="34" charset="-122"/>
                <a:cs typeface="Courier New" pitchFamily="34" charset="-120"/>
              </a:rPr>
              <a:t>     then 'unregistered' else 'registered'</a:t>
            </a:r>
            <a:endParaRPr lang="en-US" sz="1000" dirty="0"/>
          </a:p>
          <a:p>
            <a:pPr indent="0" marL="0">
              <a:lnSpc>
                <a:spcPts val="1750"/>
              </a:lnSpc>
              <a:buNone/>
            </a:pPr>
            <a:r>
              <a:rPr lang="en-US" sz="1000" dirty="0">
                <a:solidFill>
                  <a:srgbClr val="434E60"/>
                </a:solidFill>
                <a:latin typeface="Courier New" pitchFamily="34" charset="0"/>
                <a:ea typeface="Courier New" pitchFamily="34" charset="-122"/>
                <a:cs typeface="Courier New" pitchFamily="34" charset="-120"/>
              </a:rPr>
              <a:t>end as price_channel</a:t>
            </a:r>
            <a:endParaRPr lang="en-US" sz="1000" dirty="0"/>
          </a:p>
          <a:p>
            <a:pPr indent="0" marL="0">
              <a:lnSpc>
                <a:spcPts val="1750"/>
              </a:lnSpc>
              <a:buNone/>
            </a:pPr>
            <a:r>
              <a:rPr lang="en-US" sz="1000" dirty="0">
                <a:solidFill>
                  <a:srgbClr val="434E60"/>
                </a:solidFill>
                <a:latin typeface="Courier New" pitchFamily="34" charset="0"/>
                <a:ea typeface="Courier New" pitchFamily="34" charset="-122"/>
                <a:cs typeface="Courier New" pitchFamily="34" charset="-120"/>
              </a:rPr>
              <a:t>-- item_id = stock_code || '|' || price_channel</a:t>
            </a:r>
            <a:endParaRPr lang="en-US" sz="1000" dirty="0"/>
          </a:p>
        </p:txBody>
      </p:sp>
      <p:sp>
        <p:nvSpPr>
          <p:cNvPr id="13" name="Shape 10"/>
          <p:cNvSpPr/>
          <p:nvPr/>
        </p:nvSpPr>
        <p:spPr>
          <a:xfrm>
            <a:off x="6492240" y="3310128"/>
            <a:ext cx="5120640" cy="2057400"/>
          </a:xfrm>
          <a:prstGeom prst="roundRect">
            <a:avLst>
              <a:gd name="adj" fmla="val 3556"/>
            </a:avLst>
          </a:prstGeom>
          <a:solidFill>
            <a:srgbClr val="F2F4F7"/>
          </a:solidFill>
          <a:ln/>
        </p:spPr>
      </p:sp>
      <p:sp>
        <p:nvSpPr>
          <p:cNvPr id="14" name="Text 11"/>
          <p:cNvSpPr txBox="1"/>
          <p:nvPr/>
        </p:nvSpPr>
        <p:spPr>
          <a:xfrm>
            <a:off x="6711696" y="3474720"/>
            <a:ext cx="4681728" cy="256032"/>
          </a:xfrm>
          <a:prstGeom prst="rect">
            <a:avLst/>
          </a:prstGeom>
          <a:noFill/>
          <a:ln/>
        </p:spPr>
        <p:txBody>
          <a:bodyPr wrap="square" lIns="0" tIns="0" rIns="0" bIns="0" rtlCol="0" anchor="ctr"/>
          <a:lstStyle/>
          <a:p>
            <a:pPr indent="0" marL="0">
              <a:buNone/>
            </a:pPr>
            <a:r>
              <a:rPr lang="en-US" sz="1150" b="1" dirty="0">
                <a:solidFill>
                  <a:srgbClr val="EB6834"/>
                </a:solidFill>
                <a:latin typeface="Yu Gothic" pitchFamily="34" charset="0"/>
                <a:ea typeface="Yu Gothic" pitchFamily="34" charset="-122"/>
                <a:cs typeface="Yu Gothic" pitchFamily="34" charset="-120"/>
              </a:rPr>
              <a:t>根拠：2011年11月の前月比</a:t>
            </a:r>
            <a:endParaRPr lang="en-US" sz="1150" dirty="0"/>
          </a:p>
        </p:txBody>
      </p:sp>
      <p:sp>
        <p:nvSpPr>
          <p:cNvPr id="15" name="Text 12"/>
          <p:cNvSpPr txBox="1"/>
          <p:nvPr/>
        </p:nvSpPr>
        <p:spPr>
          <a:xfrm>
            <a:off x="6711696" y="3822192"/>
            <a:ext cx="4681728" cy="1481328"/>
          </a:xfrm>
          <a:prstGeom prst="rect">
            <a:avLst/>
          </a:prstGeom>
          <a:noFill/>
          <a:ln/>
        </p:spPr>
        <p:txBody>
          <a:bodyPr wrap="square" lIns="0" tIns="0" rIns="0" bIns="0" rtlCol="0" anchor="ctr"/>
          <a:lstStyle/>
          <a:p>
            <a:pPr indent="0" marL="0">
              <a:lnSpc>
                <a:spcPts val="2600"/>
              </a:lnSpc>
              <a:buNone/>
            </a:pPr>
            <a:r>
              <a:rPr lang="en-US" sz="1150" dirty="0">
                <a:solidFill>
                  <a:srgbClr val="636C7C"/>
                </a:solidFill>
                <a:latin typeface="Yu Gothic" pitchFamily="34" charset="0"/>
                <a:ea typeface="Yu Gothic" pitchFamily="34" charset="-122"/>
                <a:cs typeface="Yu Gothic" pitchFamily="34" charset="-120"/>
              </a:rPr>
              <a:t>商品単位（チャネル混在）</a:t>
            </a:r>
            <a:endParaRPr lang="en-US" sz="1150" dirty="0"/>
          </a:p>
          <a:p>
            <a:pPr indent="0" marL="0">
              <a:lnSpc>
                <a:spcPts val="2600"/>
              </a:lnSpc>
              <a:buNone/>
            </a:pPr>
            <a:r>
              <a:rPr lang="en-US" sz="2400" b="1" dirty="0">
                <a:solidFill>
                  <a:srgbClr val="636C7C"/>
                </a:solidFill>
                <a:latin typeface="Yu Gothic" pitchFamily="34" charset="0"/>
                <a:ea typeface="Yu Gothic" pitchFamily="34" charset="-122"/>
                <a:cs typeface="Yu Gothic" pitchFamily="34" charset="-120"/>
              </a:rPr>
              <a:t>+7.5%</a:t>
            </a:r>
            <a:endParaRPr lang="en-US" sz="1150" dirty="0"/>
          </a:p>
          <a:p>
            <a:pPr indent="0" marL="0">
              <a:lnSpc>
                <a:spcPts val="2600"/>
              </a:lnSpc>
              <a:buNone/>
            </a:pPr>
            <a:r>
              <a:rPr lang="en-US" sz="1150" dirty="0">
                <a:solidFill>
                  <a:srgbClr val="232A36"/>
                </a:solidFill>
                <a:latin typeface="Yu Gothic" pitchFamily="34" charset="0"/>
                <a:ea typeface="Yu Gothic" pitchFamily="34" charset="-122"/>
                <a:cs typeface="Yu Gothic" pitchFamily="34" charset="-120"/>
              </a:rPr>
              <a:t>商品 × チャネル単位</a:t>
            </a:r>
            <a:endParaRPr lang="en-US" sz="1150" dirty="0"/>
          </a:p>
          <a:p>
            <a:pPr indent="0" marL="0">
              <a:lnSpc>
                <a:spcPts val="2600"/>
              </a:lnSpc>
              <a:buNone/>
            </a:pPr>
            <a:r>
              <a:rPr lang="en-US" sz="2400" b="1" dirty="0">
                <a:solidFill>
                  <a:srgbClr val="434E60"/>
                </a:solidFill>
                <a:latin typeface="Yu Gothic" pitchFamily="34" charset="0"/>
                <a:ea typeface="Yu Gothic" pitchFamily="34" charset="-122"/>
                <a:cs typeface="Yu Gothic" pitchFamily="34" charset="-120"/>
              </a:rPr>
              <a:t>+2.0%</a:t>
            </a:r>
            <a:endParaRPr lang="en-US" sz="1150" dirty="0"/>
          </a:p>
        </p:txBody>
      </p:sp>
      <p:sp>
        <p:nvSpPr>
          <p:cNvPr id="16" name="Text 13"/>
          <p:cNvSpPr txBox="1"/>
          <p:nvPr/>
        </p:nvSpPr>
        <p:spPr>
          <a:xfrm>
            <a:off x="548640" y="5577840"/>
            <a:ext cx="11064240" cy="365760"/>
          </a:xfrm>
          <a:prstGeom prst="rect">
            <a:avLst/>
          </a:prstGeom>
          <a:noFill/>
          <a:ln/>
        </p:spPr>
        <p:txBody>
          <a:bodyPr wrap="square" lIns="0" tIns="0" rIns="0" bIns="0" rtlCol="0" anchor="ctr"/>
          <a:lstStyle/>
          <a:p>
            <a:pPr indent="0" marL="0">
              <a:buNone/>
            </a:pPr>
            <a:r>
              <a:rPr lang="en-US" sz="1150" dirty="0">
                <a:solidFill>
                  <a:srgbClr val="636C7C"/>
                </a:solidFill>
                <a:latin typeface="Yu Gothic" pitchFamily="34" charset="0"/>
                <a:ea typeface="Yu Gothic" pitchFamily="34" charset="-122"/>
                <a:cs typeface="Yu Gothic" pitchFamily="34" charset="-120"/>
              </a:rPr>
              <a:t>この分離をしないまま「2年で +4.7%」と報告していたら、季節的なチャネル構成の変化を物価変動として説明してしまっていた。</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56032"/>
          </a:xfrm>
          <a:prstGeom prst="rect">
            <a:avLst/>
          </a:prstGeom>
          <a:noFill/>
          <a:ln/>
        </p:spPr>
        <p:txBody>
          <a:bodyPr wrap="square" lIns="0" tIns="0" rIns="0" bIns="0" rtlCol="0" anchor="ctr"/>
          <a:lstStyle/>
          <a:p>
            <a:pPr indent="0" marL="0">
              <a:buNone/>
            </a:pPr>
            <a:r>
              <a:rPr lang="en-US" sz="1200" b="1" spc="100" kern="0" dirty="0">
                <a:solidFill>
                  <a:srgbClr val="EB6834"/>
                </a:solidFill>
                <a:latin typeface="Yu Gothic" pitchFamily="34" charset="0"/>
                <a:ea typeface="Yu Gothic" pitchFamily="34" charset="-122"/>
                <a:cs typeface="Yu Gothic" pitchFamily="34" charset="-120"/>
              </a:rPr>
              <a:t>決定 ②</a:t>
            </a:r>
            <a:endParaRPr lang="en-US" sz="1200" dirty="0"/>
          </a:p>
        </p:txBody>
      </p:sp>
      <p:sp>
        <p:nvSpPr>
          <p:cNvPr id="3" name="Text 1"/>
          <p:cNvSpPr txBox="1"/>
          <p:nvPr/>
        </p:nvSpPr>
        <p:spPr>
          <a:xfrm>
            <a:off x="548640" y="658368"/>
            <a:ext cx="11064240" cy="502920"/>
          </a:xfrm>
          <a:prstGeom prst="rect">
            <a:avLst/>
          </a:prstGeom>
          <a:noFill/>
          <a:ln/>
        </p:spPr>
        <p:txBody>
          <a:bodyPr wrap="square" lIns="0" tIns="0" rIns="0" bIns="0" rtlCol="0" anchor="ctr"/>
          <a:lstStyle/>
          <a:p>
            <a:pPr indent="0" marL="0">
              <a:buNone/>
            </a:pPr>
            <a:r>
              <a:rPr lang="en-US" sz="2800" b="1" dirty="0">
                <a:solidFill>
                  <a:srgbClr val="232A36"/>
                </a:solidFill>
                <a:latin typeface="Yu Gothic" pitchFamily="34" charset="0"/>
                <a:ea typeface="Yu Gothic" pitchFamily="34" charset="-122"/>
                <a:cs typeface="Yu Gothic" pitchFamily="34" charset="-120"/>
              </a:rPr>
              <a:t>日次指数から「連鎖」を外した理由</a:t>
            </a:r>
            <a:endParaRPr lang="en-US" sz="2800" dirty="0"/>
          </a:p>
        </p:txBody>
      </p:sp>
      <p:sp>
        <p:nvSpPr>
          <p:cNvPr id="4" name="Text 2"/>
          <p:cNvSpPr txBox="1"/>
          <p:nvPr/>
        </p:nvSpPr>
        <p:spPr>
          <a:xfrm>
            <a:off x="548640" y="1371600"/>
            <a:ext cx="51206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課題</a:t>
            </a:r>
            <a:endParaRPr lang="en-US" sz="1150" dirty="0"/>
          </a:p>
        </p:txBody>
      </p:sp>
      <p:sp>
        <p:nvSpPr>
          <p:cNvPr id="5" name="Text 3"/>
          <p:cNvSpPr txBox="1"/>
          <p:nvPr/>
        </p:nvSpPr>
        <p:spPr>
          <a:xfrm>
            <a:off x="548640" y="1664208"/>
            <a:ext cx="5120640" cy="896112"/>
          </a:xfrm>
          <a:prstGeom prst="rect">
            <a:avLst/>
          </a:prstGeom>
          <a:noFill/>
          <a:ln/>
        </p:spPr>
        <p:txBody>
          <a:bodyPr wrap="square" lIns="0" tIns="0" rIns="0" bIns="0" rtlCol="0" anchor="ctr"/>
          <a:lstStyle/>
          <a:p>
            <a:pPr indent="0" marL="0">
              <a:lnSpc>
                <a:spcPts val="2000"/>
              </a:lnSpc>
              <a:buNone/>
            </a:pPr>
            <a:r>
              <a:rPr lang="en-US" sz="1250" dirty="0">
                <a:solidFill>
                  <a:srgbClr val="232A36"/>
                </a:solidFill>
                <a:latin typeface="Yu Gothic" pitchFamily="34" charset="0"/>
                <a:ea typeface="Yu Gothic" pitchFamily="34" charset="-122"/>
                <a:cs typeface="Yu Gothic" pitchFamily="34" charset="-120"/>
              </a:rPr>
              <a:t>日々の価格変化を連鎖（前日比の積み上げ）で指数にすると、2 年で 218 まで上昇した。同じデータの月次指数は 104.7。日次の単価ノイズが累積する chain drift。</a:t>
            </a:r>
            <a:endParaRPr lang="en-US" sz="1250" dirty="0"/>
          </a:p>
        </p:txBody>
      </p:sp>
      <p:sp>
        <p:nvSpPr>
          <p:cNvPr id="6" name="Text 4"/>
          <p:cNvSpPr txBox="1"/>
          <p:nvPr/>
        </p:nvSpPr>
        <p:spPr>
          <a:xfrm>
            <a:off x="548640" y="2697480"/>
            <a:ext cx="51206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選択肢と判断</a:t>
            </a:r>
            <a:endParaRPr lang="en-US" sz="1150" dirty="0"/>
          </a:p>
        </p:txBody>
      </p:sp>
      <p:sp>
        <p:nvSpPr>
          <p:cNvPr id="7" name="Shape 5"/>
          <p:cNvSpPr/>
          <p:nvPr/>
        </p:nvSpPr>
        <p:spPr>
          <a:xfrm>
            <a:off x="548640" y="2999232"/>
            <a:ext cx="5120640" cy="621792"/>
          </a:xfrm>
          <a:prstGeom prst="roundRect">
            <a:avLst>
              <a:gd name="adj" fmla="val 8824"/>
            </a:avLst>
          </a:prstGeom>
          <a:solidFill>
            <a:srgbClr val="FAFBFC"/>
          </a:solidFill>
          <a:ln/>
        </p:spPr>
      </p:sp>
      <p:sp>
        <p:nvSpPr>
          <p:cNvPr id="8" name="Text 6"/>
          <p:cNvSpPr txBox="1"/>
          <p:nvPr/>
        </p:nvSpPr>
        <p:spPr>
          <a:xfrm>
            <a:off x="713232" y="2999232"/>
            <a:ext cx="274320" cy="621792"/>
          </a:xfrm>
          <a:prstGeom prst="rect">
            <a:avLst/>
          </a:prstGeom>
          <a:noFill/>
          <a:ln/>
        </p:spPr>
        <p:txBody>
          <a:bodyPr wrap="square" lIns="0" tIns="0" rIns="0" bIns="0" rtlCol="0" anchor="ctr"/>
          <a:lstStyle/>
          <a:p>
            <a:pPr indent="0" marL="0">
              <a:buNone/>
            </a:pPr>
            <a:r>
              <a:rPr lang="en-US" sz="1200" b="1" dirty="0">
                <a:solidFill>
                  <a:srgbClr val="636C7C"/>
                </a:solidFill>
                <a:latin typeface="Yu Gothic" pitchFamily="34" charset="0"/>
                <a:ea typeface="Yu Gothic" pitchFamily="34" charset="-122"/>
                <a:cs typeface="Yu Gothic" pitchFamily="34" charset="-120"/>
              </a:rPr>
              <a:t>a</a:t>
            </a:r>
            <a:endParaRPr lang="en-US" sz="1200" dirty="0"/>
          </a:p>
        </p:txBody>
      </p:sp>
      <p:sp>
        <p:nvSpPr>
          <p:cNvPr id="9" name="Text 7"/>
          <p:cNvSpPr txBox="1"/>
          <p:nvPr/>
        </p:nvSpPr>
        <p:spPr>
          <a:xfrm>
            <a:off x="1051560" y="2999232"/>
            <a:ext cx="2103120" cy="621792"/>
          </a:xfrm>
          <a:prstGeom prst="rect">
            <a:avLst/>
          </a:prstGeom>
          <a:noFill/>
          <a:ln/>
        </p:spPr>
        <p:txBody>
          <a:bodyPr wrap="square" lIns="0" tIns="0" rIns="0" bIns="0" rtlCol="0" anchor="ctr"/>
          <a:lstStyle/>
          <a:p>
            <a:pPr indent="0" marL="0">
              <a:lnSpc>
                <a:spcPts val="1400"/>
              </a:lnSpc>
              <a:buNone/>
            </a:pPr>
            <a:r>
              <a:rPr lang="en-US" sz="1100" dirty="0">
                <a:solidFill>
                  <a:srgbClr val="636C7C"/>
                </a:solidFill>
                <a:latin typeface="Yu Gothic" pitchFamily="34" charset="0"/>
                <a:ea typeface="Yu Gothic" pitchFamily="34" charset="-122"/>
                <a:cs typeface="Yu Gothic" pitchFamily="34" charset="-120"/>
              </a:rPr>
              <a:t>日次で連鎖する</a:t>
            </a:r>
            <a:endParaRPr lang="en-US" sz="1100" dirty="0"/>
          </a:p>
        </p:txBody>
      </p:sp>
      <p:sp>
        <p:nvSpPr>
          <p:cNvPr id="10" name="Text 8"/>
          <p:cNvSpPr txBox="1"/>
          <p:nvPr/>
        </p:nvSpPr>
        <p:spPr>
          <a:xfrm>
            <a:off x="3200400" y="2999232"/>
            <a:ext cx="2331720" cy="621792"/>
          </a:xfrm>
          <a:prstGeom prst="rect">
            <a:avLst/>
          </a:prstGeom>
          <a:noFill/>
          <a:ln/>
        </p:spPr>
        <p:txBody>
          <a:bodyPr wrap="square" lIns="0" tIns="0" rIns="0" bIns="0" rtlCol="0" anchor="ctr"/>
          <a:lstStyle/>
          <a:p>
            <a:pPr indent="0" marL="0">
              <a:lnSpc>
                <a:spcPts val="1400"/>
              </a:lnSpc>
              <a:buNone/>
            </a:pPr>
            <a:r>
              <a:rPr lang="en-US" sz="1050" dirty="0">
                <a:solidFill>
                  <a:srgbClr val="636C7C"/>
                </a:solidFill>
                <a:latin typeface="Yu Gothic" pitchFamily="34" charset="0"/>
                <a:ea typeface="Yu Gothic" pitchFamily="34" charset="-122"/>
                <a:cs typeface="Yu Gothic" pitchFamily="34" charset="-120"/>
              </a:rPr>
              <a:t>却下：ドリフトが累積</a:t>
            </a:r>
            <a:endParaRPr lang="en-US" sz="1050" dirty="0"/>
          </a:p>
        </p:txBody>
      </p:sp>
      <p:sp>
        <p:nvSpPr>
          <p:cNvPr id="11" name="Shape 9"/>
          <p:cNvSpPr/>
          <p:nvPr/>
        </p:nvSpPr>
        <p:spPr>
          <a:xfrm>
            <a:off x="548640" y="3712464"/>
            <a:ext cx="5120640" cy="621792"/>
          </a:xfrm>
          <a:prstGeom prst="roundRect">
            <a:avLst>
              <a:gd name="adj" fmla="val 8824"/>
            </a:avLst>
          </a:prstGeom>
          <a:solidFill>
            <a:srgbClr val="FAFBFC"/>
          </a:solidFill>
          <a:ln/>
        </p:spPr>
      </p:sp>
      <p:sp>
        <p:nvSpPr>
          <p:cNvPr id="12" name="Text 10"/>
          <p:cNvSpPr txBox="1"/>
          <p:nvPr/>
        </p:nvSpPr>
        <p:spPr>
          <a:xfrm>
            <a:off x="713232" y="3712464"/>
            <a:ext cx="274320" cy="621792"/>
          </a:xfrm>
          <a:prstGeom prst="rect">
            <a:avLst/>
          </a:prstGeom>
          <a:noFill/>
          <a:ln/>
        </p:spPr>
        <p:txBody>
          <a:bodyPr wrap="square" lIns="0" tIns="0" rIns="0" bIns="0" rtlCol="0" anchor="ctr"/>
          <a:lstStyle/>
          <a:p>
            <a:pPr indent="0" marL="0">
              <a:buNone/>
            </a:pPr>
            <a:r>
              <a:rPr lang="en-US" sz="1200" b="1" dirty="0">
                <a:solidFill>
                  <a:srgbClr val="636C7C"/>
                </a:solidFill>
                <a:latin typeface="Yu Gothic" pitchFamily="34" charset="0"/>
                <a:ea typeface="Yu Gothic" pitchFamily="34" charset="-122"/>
                <a:cs typeface="Yu Gothic" pitchFamily="34" charset="-120"/>
              </a:rPr>
              <a:t>b</a:t>
            </a:r>
            <a:endParaRPr lang="en-US" sz="1200" dirty="0"/>
          </a:p>
        </p:txBody>
      </p:sp>
      <p:sp>
        <p:nvSpPr>
          <p:cNvPr id="13" name="Text 11"/>
          <p:cNvSpPr txBox="1"/>
          <p:nvPr/>
        </p:nvSpPr>
        <p:spPr>
          <a:xfrm>
            <a:off x="1051560" y="3712464"/>
            <a:ext cx="2103120" cy="621792"/>
          </a:xfrm>
          <a:prstGeom prst="rect">
            <a:avLst/>
          </a:prstGeom>
          <a:noFill/>
          <a:ln/>
        </p:spPr>
        <p:txBody>
          <a:bodyPr wrap="square" lIns="0" tIns="0" rIns="0" bIns="0" rtlCol="0" anchor="ctr"/>
          <a:lstStyle/>
          <a:p>
            <a:pPr indent="0" marL="0">
              <a:lnSpc>
                <a:spcPts val="1400"/>
              </a:lnSpc>
              <a:buNone/>
            </a:pPr>
            <a:r>
              <a:rPr lang="en-US" sz="1100" dirty="0">
                <a:solidFill>
                  <a:srgbClr val="636C7C"/>
                </a:solidFill>
                <a:latin typeface="Yu Gothic" pitchFamily="34" charset="0"/>
                <a:ea typeface="Yu Gothic" pitchFamily="34" charset="-122"/>
                <a:cs typeface="Yu Gothic" pitchFamily="34" charset="-120"/>
              </a:rPr>
              <a:t>月次だけを出す</a:t>
            </a:r>
            <a:endParaRPr lang="en-US" sz="1100" dirty="0"/>
          </a:p>
        </p:txBody>
      </p:sp>
      <p:sp>
        <p:nvSpPr>
          <p:cNvPr id="14" name="Text 12"/>
          <p:cNvSpPr txBox="1"/>
          <p:nvPr/>
        </p:nvSpPr>
        <p:spPr>
          <a:xfrm>
            <a:off x="3200400" y="3712464"/>
            <a:ext cx="2331720" cy="621792"/>
          </a:xfrm>
          <a:prstGeom prst="rect">
            <a:avLst/>
          </a:prstGeom>
          <a:noFill/>
          <a:ln/>
        </p:spPr>
        <p:txBody>
          <a:bodyPr wrap="square" lIns="0" tIns="0" rIns="0" bIns="0" rtlCol="0" anchor="ctr"/>
          <a:lstStyle/>
          <a:p>
            <a:pPr indent="0" marL="0">
              <a:lnSpc>
                <a:spcPts val="1400"/>
              </a:lnSpc>
              <a:buNone/>
            </a:pPr>
            <a:r>
              <a:rPr lang="en-US" sz="1050" dirty="0">
                <a:solidFill>
                  <a:srgbClr val="636C7C"/>
                </a:solidFill>
                <a:latin typeface="Yu Gothic" pitchFamily="34" charset="0"/>
                <a:ea typeface="Yu Gothic" pitchFamily="34" charset="-122"/>
                <a:cs typeface="Yu Gothic" pitchFamily="34" charset="-120"/>
              </a:rPr>
              <a:t>却下：日次の粒度を失う</a:t>
            </a:r>
            <a:endParaRPr lang="en-US" sz="1050" dirty="0"/>
          </a:p>
        </p:txBody>
      </p:sp>
      <p:sp>
        <p:nvSpPr>
          <p:cNvPr id="15" name="Shape 13"/>
          <p:cNvSpPr/>
          <p:nvPr/>
        </p:nvSpPr>
        <p:spPr>
          <a:xfrm>
            <a:off x="548640" y="4425696"/>
            <a:ext cx="5120640" cy="621792"/>
          </a:xfrm>
          <a:prstGeom prst="roundRect">
            <a:avLst>
              <a:gd name="adj" fmla="val 8824"/>
            </a:avLst>
          </a:prstGeom>
          <a:solidFill>
            <a:srgbClr val="F2F4F7"/>
          </a:solidFill>
          <a:ln/>
        </p:spPr>
      </p:sp>
      <p:sp>
        <p:nvSpPr>
          <p:cNvPr id="16" name="Text 14"/>
          <p:cNvSpPr txBox="1"/>
          <p:nvPr/>
        </p:nvSpPr>
        <p:spPr>
          <a:xfrm>
            <a:off x="713232" y="4425696"/>
            <a:ext cx="274320" cy="621792"/>
          </a:xfrm>
          <a:prstGeom prst="rect">
            <a:avLst/>
          </a:prstGeom>
          <a:noFill/>
          <a:ln/>
        </p:spPr>
        <p:txBody>
          <a:bodyPr wrap="square" lIns="0" tIns="0" rIns="0" bIns="0" rtlCol="0" anchor="ctr"/>
          <a:lstStyle/>
          <a:p>
            <a:pPr indent="0" marL="0">
              <a:buNone/>
            </a:pPr>
            <a:r>
              <a:rPr lang="en-US" sz="1200" b="1" dirty="0">
                <a:solidFill>
                  <a:srgbClr val="EB6834"/>
                </a:solidFill>
                <a:latin typeface="Yu Gothic" pitchFamily="34" charset="0"/>
                <a:ea typeface="Yu Gothic" pitchFamily="34" charset="-122"/>
                <a:cs typeface="Yu Gothic" pitchFamily="34" charset="-120"/>
              </a:rPr>
              <a:t>c</a:t>
            </a:r>
            <a:endParaRPr lang="en-US" sz="1200" dirty="0"/>
          </a:p>
        </p:txBody>
      </p:sp>
      <p:sp>
        <p:nvSpPr>
          <p:cNvPr id="17" name="Text 15"/>
          <p:cNvSpPr txBox="1"/>
          <p:nvPr/>
        </p:nvSpPr>
        <p:spPr>
          <a:xfrm>
            <a:off x="1051560" y="4425696"/>
            <a:ext cx="2103120" cy="621792"/>
          </a:xfrm>
          <a:prstGeom prst="rect">
            <a:avLst/>
          </a:prstGeom>
          <a:noFill/>
          <a:ln/>
        </p:spPr>
        <p:txBody>
          <a:bodyPr wrap="square" lIns="0" tIns="0" rIns="0" bIns="0" rtlCol="0" anchor="ctr"/>
          <a:lstStyle/>
          <a:p>
            <a:pPr indent="0" marL="0">
              <a:lnSpc>
                <a:spcPts val="1400"/>
              </a:lnSpc>
              <a:buNone/>
            </a:pPr>
            <a:r>
              <a:rPr lang="en-US" sz="1100" b="1" dirty="0">
                <a:solidFill>
                  <a:srgbClr val="434E60"/>
                </a:solidFill>
                <a:latin typeface="Yu Gothic" pitchFamily="34" charset="0"/>
                <a:ea typeface="Yu Gothic" pitchFamily="34" charset="-122"/>
                <a:cs typeface="Yu Gothic" pitchFamily="34" charset="-120"/>
              </a:rPr>
              <a:t>前月の平均価格と比較し</a:t>
            </a:r>
            <a:endParaRPr lang="en-US" sz="1100" dirty="0"/>
          </a:p>
          <a:p>
            <a:pPr indent="0" marL="0">
              <a:lnSpc>
                <a:spcPts val="1400"/>
              </a:lnSpc>
              <a:buNone/>
            </a:pPr>
            <a:r>
              <a:rPr lang="en-US" sz="1100" b="1" dirty="0">
                <a:solidFill>
                  <a:srgbClr val="434E60"/>
                </a:solidFill>
                <a:latin typeface="Yu Gothic" pitchFamily="34" charset="0"/>
                <a:ea typeface="Yu Gothic" pitchFamily="34" charset="-122"/>
                <a:cs typeface="Yu Gothic" pitchFamily="34" charset="-120"/>
              </a:rPr>
              <a:t>月次指数に接続する</a:t>
            </a:r>
            <a:endParaRPr lang="en-US" sz="1100" dirty="0"/>
          </a:p>
        </p:txBody>
      </p:sp>
      <p:sp>
        <p:nvSpPr>
          <p:cNvPr id="18" name="Text 16"/>
          <p:cNvSpPr txBox="1"/>
          <p:nvPr/>
        </p:nvSpPr>
        <p:spPr>
          <a:xfrm>
            <a:off x="3200400" y="4425696"/>
            <a:ext cx="2331720" cy="621792"/>
          </a:xfrm>
          <a:prstGeom prst="rect">
            <a:avLst/>
          </a:prstGeom>
          <a:noFill/>
          <a:ln/>
        </p:spPr>
        <p:txBody>
          <a:bodyPr wrap="square" lIns="0" tIns="0" rIns="0" bIns="0" rtlCol="0" anchor="ctr"/>
          <a:lstStyle/>
          <a:p>
            <a:pPr indent="0" marL="0">
              <a:lnSpc>
                <a:spcPts val="1400"/>
              </a:lnSpc>
              <a:buNone/>
            </a:pPr>
            <a:r>
              <a:rPr lang="en-US" sz="1050" dirty="0">
                <a:solidFill>
                  <a:srgbClr val="434E60"/>
                </a:solidFill>
                <a:latin typeface="Yu Gothic" pitchFamily="34" charset="0"/>
                <a:ea typeface="Yu Gothic" pitchFamily="34" charset="-122"/>
                <a:cs typeface="Yu Gothic" pitchFamily="34" charset="-120"/>
              </a:rPr>
              <a:t>採用：日次を保ちつつ</a:t>
            </a:r>
            <a:endParaRPr lang="en-US" sz="1050" dirty="0"/>
          </a:p>
          <a:p>
            <a:pPr indent="0" marL="0">
              <a:lnSpc>
                <a:spcPts val="1400"/>
              </a:lnSpc>
              <a:buNone/>
            </a:pPr>
            <a:r>
              <a:rPr lang="en-US" sz="1050" dirty="0">
                <a:solidFill>
                  <a:srgbClr val="434E60"/>
                </a:solidFill>
                <a:latin typeface="Yu Gothic" pitchFamily="34" charset="0"/>
                <a:ea typeface="Yu Gothic" pitchFamily="34" charset="-122"/>
                <a:cs typeface="Yu Gothic" pitchFamily="34" charset="-120"/>
              </a:rPr>
              <a:t>誤差を累積させない</a:t>
            </a:r>
            <a:endParaRPr lang="en-US" sz="1050" dirty="0"/>
          </a:p>
        </p:txBody>
      </p:sp>
      <p:sp>
        <p:nvSpPr>
          <p:cNvPr id="19" name="Text 17"/>
          <p:cNvSpPr txBox="1"/>
          <p:nvPr/>
        </p:nvSpPr>
        <p:spPr>
          <a:xfrm>
            <a:off x="548640" y="5303520"/>
            <a:ext cx="51206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採用した方式（c）の中身</a:t>
            </a:r>
            <a:endParaRPr lang="en-US" sz="1150" dirty="0"/>
          </a:p>
        </p:txBody>
      </p:sp>
      <p:sp>
        <p:nvSpPr>
          <p:cNvPr id="20" name="Text 18"/>
          <p:cNvSpPr txBox="1"/>
          <p:nvPr/>
        </p:nvSpPr>
        <p:spPr>
          <a:xfrm>
            <a:off x="548640" y="5596128"/>
            <a:ext cx="5120640" cy="621792"/>
          </a:xfrm>
          <a:prstGeom prst="rect">
            <a:avLst/>
          </a:prstGeom>
          <a:noFill/>
          <a:ln/>
        </p:spPr>
        <p:txBody>
          <a:bodyPr wrap="square" lIns="0" tIns="0" rIns="0" bIns="0" rtlCol="0" anchor="ctr"/>
          <a:lstStyle/>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日 t の各アイテム価格を「前月の平均価格」と比べて Törnqvist を取り、前月の月次指数の水準に乗せる。連鎖は月次のみ。</a:t>
            </a:r>
            <a:endParaRPr lang="en-US" sz="1100" dirty="0"/>
          </a:p>
        </p:txBody>
      </p:sp>
      <p:sp>
        <p:nvSpPr>
          <p:cNvPr id="21" name="Text 19"/>
          <p:cNvSpPr txBox="1"/>
          <p:nvPr/>
        </p:nvSpPr>
        <p:spPr>
          <a:xfrm>
            <a:off x="6035040" y="1371600"/>
            <a:ext cx="5577840"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根拠：同じデータ・3 つの計算方法</a:t>
            </a:r>
            <a:endParaRPr lang="en-US" sz="1150" dirty="0"/>
          </a:p>
        </p:txBody>
      </p:sp>
      <p:pic>
        <p:nvPicPr>
          <p:cNvPr id="22" name="Image 0" descr="/Users/huangbaoxi/Code/mini-nowcast/docs/deck-assets/index_methods.png">    </p:cNvPr>
          <p:cNvPicPr>
            <a:picLocks noChangeAspect="1"/>
          </p:cNvPicPr>
          <p:nvPr/>
        </p:nvPicPr>
        <p:blipFill>
          <a:blip r:embed="rId1"/>
          <a:stretch>
            <a:fillRect/>
          </a:stretch>
        </p:blipFill>
        <p:spPr>
          <a:xfrm>
            <a:off x="6035040" y="1682496"/>
            <a:ext cx="5577840" cy="2551176"/>
          </a:xfrm>
          <a:prstGeom prst="rect">
            <a:avLst/>
          </a:prstGeom>
        </p:spPr>
      </p:pic>
      <p:sp>
        <p:nvSpPr>
          <p:cNvPr id="23" name="Text 20"/>
          <p:cNvSpPr txBox="1"/>
          <p:nvPr/>
        </p:nvSpPr>
        <p:spPr>
          <a:xfrm>
            <a:off x="6035040" y="4279392"/>
            <a:ext cx="5577840" cy="237744"/>
          </a:xfrm>
          <a:prstGeom prst="rect">
            <a:avLst/>
          </a:prstGeom>
          <a:noFill/>
          <a:ln/>
        </p:spPr>
        <p:txBody>
          <a:bodyPr wrap="square" lIns="0" tIns="0" rIns="0" bIns="0" rtlCol="0" anchor="ctr"/>
          <a:lstStyle/>
          <a:p>
            <a:pPr indent="0" marL="0">
              <a:buNone/>
            </a:pPr>
            <a:r>
              <a:rPr lang="en-US" sz="1050" dirty="0">
                <a:solidFill>
                  <a:srgbClr val="636C7C"/>
                </a:solidFill>
                <a:latin typeface="Yu Gothic" pitchFamily="34" charset="0"/>
                <a:ea typeface="Yu Gothic" pitchFamily="34" charset="-122"/>
                <a:cs typeface="Yu Gothic" pitchFamily="34" charset="-120"/>
              </a:rPr>
              <a:t>青＝月接続（採用, 103）　橙＝日次連鎖（218）　緑＝単純平均単価</a:t>
            </a:r>
            <a:endParaRPr lang="en-US" sz="1050" dirty="0"/>
          </a:p>
        </p:txBody>
      </p:sp>
      <p:sp>
        <p:nvSpPr>
          <p:cNvPr id="24" name="Shape 21"/>
          <p:cNvSpPr/>
          <p:nvPr/>
        </p:nvSpPr>
        <p:spPr>
          <a:xfrm>
            <a:off x="6035040" y="4617720"/>
            <a:ext cx="5577840" cy="1280160"/>
          </a:xfrm>
          <a:prstGeom prst="roundRect">
            <a:avLst>
              <a:gd name="adj" fmla="val 5714"/>
            </a:avLst>
          </a:prstGeom>
          <a:solidFill>
            <a:srgbClr val="F2F4F7"/>
          </a:solidFill>
          <a:ln/>
        </p:spPr>
      </p:sp>
      <p:sp>
        <p:nvSpPr>
          <p:cNvPr id="25" name="Text 22"/>
          <p:cNvSpPr txBox="1"/>
          <p:nvPr/>
        </p:nvSpPr>
        <p:spPr>
          <a:xfrm>
            <a:off x="6254496" y="4782312"/>
            <a:ext cx="5138928"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あわせて入れた防御</a:t>
            </a:r>
            <a:endParaRPr lang="en-US" sz="1150" dirty="0"/>
          </a:p>
        </p:txBody>
      </p:sp>
      <p:sp>
        <p:nvSpPr>
          <p:cNvPr id="26" name="Text 23"/>
          <p:cNvSpPr txBox="1"/>
          <p:nvPr/>
        </p:nvSpPr>
        <p:spPr>
          <a:xfrm>
            <a:off x="6254496" y="5093208"/>
            <a:ext cx="5138928" cy="640080"/>
          </a:xfrm>
          <a:prstGeom prst="rect">
            <a:avLst/>
          </a:prstGeom>
          <a:noFill/>
          <a:ln/>
        </p:spPr>
        <p:txBody>
          <a:bodyPr wrap="square" lIns="0" tIns="0" rIns="0" bIns="0" rtlCol="0" anchor="ctr"/>
          <a:lstStyle/>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前期比が ln(3) を超える価格比はデータ誤りとして除外し、除外件数を指数と一緒に出力する（marts に outliers_trimmed 列）。黙って捨てず、件数が見える形にしている。</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56032"/>
          </a:xfrm>
          <a:prstGeom prst="rect">
            <a:avLst/>
          </a:prstGeom>
          <a:noFill/>
          <a:ln/>
        </p:spPr>
        <p:txBody>
          <a:bodyPr wrap="square" lIns="0" tIns="0" rIns="0" bIns="0" rtlCol="0" anchor="ctr"/>
          <a:lstStyle/>
          <a:p>
            <a:pPr indent="0" marL="0">
              <a:buNone/>
            </a:pPr>
            <a:r>
              <a:rPr lang="en-US" sz="1200" b="1" spc="100" kern="0" dirty="0">
                <a:solidFill>
                  <a:srgbClr val="EB6834"/>
                </a:solidFill>
                <a:latin typeface="Yu Gothic" pitchFamily="34" charset="0"/>
                <a:ea typeface="Yu Gothic" pitchFamily="34" charset="-122"/>
                <a:cs typeface="Yu Gothic" pitchFamily="34" charset="-120"/>
              </a:rPr>
              <a:t>決定 ③</a:t>
            </a:r>
            <a:endParaRPr lang="en-US" sz="1200" dirty="0"/>
          </a:p>
        </p:txBody>
      </p:sp>
      <p:sp>
        <p:nvSpPr>
          <p:cNvPr id="3" name="Text 1"/>
          <p:cNvSpPr txBox="1"/>
          <p:nvPr/>
        </p:nvSpPr>
        <p:spPr>
          <a:xfrm>
            <a:off x="548640" y="658368"/>
            <a:ext cx="11064240" cy="502920"/>
          </a:xfrm>
          <a:prstGeom prst="rect">
            <a:avLst/>
          </a:prstGeom>
          <a:noFill/>
          <a:ln/>
        </p:spPr>
        <p:txBody>
          <a:bodyPr wrap="square" lIns="0" tIns="0" rIns="0" bIns="0" rtlCol="0" anchor="ctr"/>
          <a:lstStyle/>
          <a:p>
            <a:pPr indent="0" marL="0">
              <a:buNone/>
            </a:pPr>
            <a:r>
              <a:rPr lang="en-US" sz="2800" b="1" dirty="0">
                <a:solidFill>
                  <a:srgbClr val="232A36"/>
                </a:solidFill>
                <a:latin typeface="Yu Gothic" pitchFamily="34" charset="0"/>
                <a:ea typeface="Yu Gothic" pitchFamily="34" charset="-122"/>
                <a:cs typeface="Yu Gothic" pitchFamily="34" charset="-120"/>
              </a:rPr>
              <a:t>データ品質をテストで担保する</a:t>
            </a:r>
            <a:endParaRPr lang="en-US" sz="2800" dirty="0"/>
          </a:p>
        </p:txBody>
      </p:sp>
      <p:sp>
        <p:nvSpPr>
          <p:cNvPr id="4" name="Shape 2"/>
          <p:cNvSpPr/>
          <p:nvPr/>
        </p:nvSpPr>
        <p:spPr>
          <a:xfrm>
            <a:off x="548640" y="1371600"/>
            <a:ext cx="3584448" cy="2148840"/>
          </a:xfrm>
          <a:prstGeom prst="roundRect">
            <a:avLst>
              <a:gd name="adj" fmla="val 3404"/>
            </a:avLst>
          </a:prstGeom>
          <a:solidFill>
            <a:srgbClr val="F2F4F7"/>
          </a:solidFill>
          <a:ln/>
        </p:spPr>
      </p:sp>
      <p:sp>
        <p:nvSpPr>
          <p:cNvPr id="5" name="Text 3"/>
          <p:cNvSpPr txBox="1"/>
          <p:nvPr/>
        </p:nvSpPr>
        <p:spPr>
          <a:xfrm>
            <a:off x="768096" y="1536192"/>
            <a:ext cx="3145536" cy="274320"/>
          </a:xfrm>
          <a:prstGeom prst="rect">
            <a:avLst/>
          </a:prstGeom>
          <a:noFill/>
          <a:ln/>
        </p:spPr>
        <p:txBody>
          <a:bodyPr wrap="square" lIns="0" tIns="0" rIns="0" bIns="0" rtlCol="0" anchor="ctr"/>
          <a:lstStyle/>
          <a:p>
            <a:pPr indent="0" marL="0">
              <a:buNone/>
            </a:pPr>
            <a:r>
              <a:rPr lang="en-US" sz="1400" b="1" dirty="0">
                <a:solidFill>
                  <a:srgbClr val="434E60"/>
                </a:solidFill>
                <a:latin typeface="Yu Gothic" pitchFamily="34" charset="0"/>
                <a:ea typeface="Yu Gothic" pitchFamily="34" charset="-122"/>
                <a:cs typeface="Yu Gothic" pitchFamily="34" charset="-120"/>
              </a:rPr>
              <a:t>一般テスト</a:t>
            </a:r>
            <a:endParaRPr lang="en-US" sz="1400" dirty="0"/>
          </a:p>
        </p:txBody>
      </p:sp>
      <p:sp>
        <p:nvSpPr>
          <p:cNvPr id="6" name="Text 4"/>
          <p:cNvSpPr txBox="1"/>
          <p:nvPr/>
        </p:nvSpPr>
        <p:spPr>
          <a:xfrm>
            <a:off x="768096" y="1847088"/>
            <a:ext cx="3145536" cy="292608"/>
          </a:xfrm>
          <a:prstGeom prst="rect">
            <a:avLst/>
          </a:prstGeom>
          <a:noFill/>
          <a:ln/>
        </p:spPr>
        <p:txBody>
          <a:bodyPr wrap="square" lIns="0" tIns="0" rIns="0" bIns="0" rtlCol="0" anchor="ctr"/>
          <a:lstStyle/>
          <a:p>
            <a:pPr indent="0" marL="0">
              <a:lnSpc>
                <a:spcPts val="1400"/>
              </a:lnSpc>
              <a:buNone/>
            </a:pPr>
            <a:r>
              <a:rPr lang="en-US" sz="1050" b="1" dirty="0">
                <a:solidFill>
                  <a:srgbClr val="EB6834"/>
                </a:solidFill>
                <a:latin typeface="Yu Gothic" pitchFamily="34" charset="0"/>
                <a:ea typeface="Yu Gothic" pitchFamily="34" charset="-122"/>
                <a:cs typeface="Yu Gothic" pitchFamily="34" charset="-120"/>
              </a:rPr>
              <a:t>not_null / unique / accepted_values / 範囲・複合キー（自作）</a:t>
            </a:r>
            <a:endParaRPr lang="en-US" sz="1050" dirty="0"/>
          </a:p>
        </p:txBody>
      </p:sp>
      <p:sp>
        <p:nvSpPr>
          <p:cNvPr id="7" name="Text 5"/>
          <p:cNvSpPr txBox="1"/>
          <p:nvPr/>
        </p:nvSpPr>
        <p:spPr>
          <a:xfrm>
            <a:off x="768096" y="2212848"/>
            <a:ext cx="3145536" cy="1188720"/>
          </a:xfrm>
          <a:prstGeom prst="rect">
            <a:avLst/>
          </a:prstGeom>
          <a:noFill/>
          <a:ln/>
        </p:spPr>
        <p:txBody>
          <a:bodyPr wrap="square" lIns="0" tIns="0" rIns="0" bIns="0" rtlCol="0" anchor="ctr"/>
          <a:lstStyle/>
          <a:p>
            <a:pPr indent="0" marL="0">
              <a:lnSpc>
                <a:spcPts val="1600"/>
              </a:lnSpc>
              <a:buNone/>
            </a:pPr>
            <a:r>
              <a:rPr lang="en-US" sz="1050" dirty="0">
                <a:solidFill>
                  <a:srgbClr val="232A36"/>
                </a:solidFill>
                <a:latin typeface="Yu Gothic" pitchFamily="34" charset="0"/>
                <a:ea typeface="Yu Gothic" pitchFamily="34" charset="-122"/>
                <a:cs typeface="Yu Gothic" pitchFamily="34" charset="-120"/>
              </a:rPr>
              <a:t>dbt_utils は入れず、between と unique_combination を自作。外部パッケージの取得に依存せず動く。</a:t>
            </a:r>
            <a:endParaRPr lang="en-US" sz="1050" dirty="0"/>
          </a:p>
        </p:txBody>
      </p:sp>
      <p:sp>
        <p:nvSpPr>
          <p:cNvPr id="8" name="Shape 6"/>
          <p:cNvSpPr/>
          <p:nvPr/>
        </p:nvSpPr>
        <p:spPr>
          <a:xfrm>
            <a:off x="4288536" y="1371600"/>
            <a:ext cx="3584448" cy="2148840"/>
          </a:xfrm>
          <a:prstGeom prst="roundRect">
            <a:avLst>
              <a:gd name="adj" fmla="val 3404"/>
            </a:avLst>
          </a:prstGeom>
          <a:solidFill>
            <a:srgbClr val="F2F4F7"/>
          </a:solidFill>
          <a:ln/>
        </p:spPr>
      </p:sp>
      <p:sp>
        <p:nvSpPr>
          <p:cNvPr id="9" name="Text 7"/>
          <p:cNvSpPr txBox="1"/>
          <p:nvPr/>
        </p:nvSpPr>
        <p:spPr>
          <a:xfrm>
            <a:off x="4507992" y="1536192"/>
            <a:ext cx="3145536" cy="274320"/>
          </a:xfrm>
          <a:prstGeom prst="rect">
            <a:avLst/>
          </a:prstGeom>
          <a:noFill/>
          <a:ln/>
        </p:spPr>
        <p:txBody>
          <a:bodyPr wrap="square" lIns="0" tIns="0" rIns="0" bIns="0" rtlCol="0" anchor="ctr"/>
          <a:lstStyle/>
          <a:p>
            <a:pPr indent="0" marL="0">
              <a:buNone/>
            </a:pPr>
            <a:r>
              <a:rPr lang="en-US" sz="1400" b="1" dirty="0">
                <a:solidFill>
                  <a:srgbClr val="434E60"/>
                </a:solidFill>
                <a:latin typeface="Yu Gothic" pitchFamily="34" charset="0"/>
                <a:ea typeface="Yu Gothic" pitchFamily="34" charset="-122"/>
                <a:cs typeface="Yu Gothic" pitchFamily="34" charset="-120"/>
              </a:rPr>
              <a:t>恒等式テスト</a:t>
            </a:r>
            <a:endParaRPr lang="en-US" sz="1400" dirty="0"/>
          </a:p>
        </p:txBody>
      </p:sp>
      <p:sp>
        <p:nvSpPr>
          <p:cNvPr id="10" name="Text 8"/>
          <p:cNvSpPr txBox="1"/>
          <p:nvPr/>
        </p:nvSpPr>
        <p:spPr>
          <a:xfrm>
            <a:off x="4507992" y="1847088"/>
            <a:ext cx="3145536" cy="292608"/>
          </a:xfrm>
          <a:prstGeom prst="rect">
            <a:avLst/>
          </a:prstGeom>
          <a:noFill/>
          <a:ln/>
        </p:spPr>
        <p:txBody>
          <a:bodyPr wrap="square" lIns="0" tIns="0" rIns="0" bIns="0" rtlCol="0" anchor="ctr"/>
          <a:lstStyle/>
          <a:p>
            <a:pPr indent="0" marL="0">
              <a:lnSpc>
                <a:spcPts val="1400"/>
              </a:lnSpc>
              <a:buNone/>
            </a:pPr>
            <a:r>
              <a:rPr lang="en-US" sz="1050" b="1" dirty="0">
                <a:solidFill>
                  <a:srgbClr val="EB6834"/>
                </a:solidFill>
                <a:latin typeface="Yu Gothic" pitchFamily="34" charset="0"/>
                <a:ea typeface="Yu Gothic" pitchFamily="34" charset="-122"/>
                <a:cs typeface="Yu Gothic" pitchFamily="34" charset="-120"/>
              </a:rPr>
              <a:t>数学的に必ず成り立つ関係を検証</a:t>
            </a:r>
            <a:endParaRPr lang="en-US" sz="1050" dirty="0"/>
          </a:p>
        </p:txBody>
      </p:sp>
      <p:sp>
        <p:nvSpPr>
          <p:cNvPr id="11" name="Text 9"/>
          <p:cNvSpPr txBox="1"/>
          <p:nvPr/>
        </p:nvSpPr>
        <p:spPr>
          <a:xfrm>
            <a:off x="4507992" y="2212848"/>
            <a:ext cx="3145536" cy="1188720"/>
          </a:xfrm>
          <a:prstGeom prst="rect">
            <a:avLst/>
          </a:prstGeom>
          <a:noFill/>
          <a:ln/>
        </p:spPr>
        <p:txBody>
          <a:bodyPr wrap="square" lIns="0" tIns="0" rIns="0" bIns="0" rtlCol="0" anchor="ctr"/>
          <a:lstStyle/>
          <a:p>
            <a:pPr indent="0" marL="0">
              <a:lnSpc>
                <a:spcPts val="1600"/>
              </a:lnSpc>
              <a:buNone/>
            </a:pPr>
            <a:r>
              <a:rPr lang="en-US" sz="1050" dirty="0">
                <a:solidFill>
                  <a:srgbClr val="232A36"/>
                </a:solidFill>
                <a:latin typeface="Yu Gothic" pitchFamily="34" charset="0"/>
                <a:ea typeface="Yu Gothic" pitchFamily="34" charset="-122"/>
                <a:cs typeface="Yu Gothic" pitchFamily="34" charset="-120"/>
              </a:rPr>
              <a:t>① 各商品の寄与度の合計 = その月の指数の log 変化　② 取込行数 = 採用 + 除外。式を書き間違えれば即座に落ちる。</a:t>
            </a:r>
            <a:endParaRPr lang="en-US" sz="1050" dirty="0"/>
          </a:p>
        </p:txBody>
      </p:sp>
      <p:sp>
        <p:nvSpPr>
          <p:cNvPr id="12" name="Shape 10"/>
          <p:cNvSpPr/>
          <p:nvPr/>
        </p:nvSpPr>
        <p:spPr>
          <a:xfrm>
            <a:off x="8028432" y="1371600"/>
            <a:ext cx="3584448" cy="2148840"/>
          </a:xfrm>
          <a:prstGeom prst="roundRect">
            <a:avLst>
              <a:gd name="adj" fmla="val 3404"/>
            </a:avLst>
          </a:prstGeom>
          <a:solidFill>
            <a:srgbClr val="F2F4F7"/>
          </a:solidFill>
          <a:ln/>
        </p:spPr>
      </p:sp>
      <p:sp>
        <p:nvSpPr>
          <p:cNvPr id="13" name="Text 11"/>
          <p:cNvSpPr txBox="1"/>
          <p:nvPr/>
        </p:nvSpPr>
        <p:spPr>
          <a:xfrm>
            <a:off x="8247888" y="1536192"/>
            <a:ext cx="3145536" cy="274320"/>
          </a:xfrm>
          <a:prstGeom prst="rect">
            <a:avLst/>
          </a:prstGeom>
          <a:noFill/>
          <a:ln/>
        </p:spPr>
        <p:txBody>
          <a:bodyPr wrap="square" lIns="0" tIns="0" rIns="0" bIns="0" rtlCol="0" anchor="ctr"/>
          <a:lstStyle/>
          <a:p>
            <a:pPr indent="0" marL="0">
              <a:buNone/>
            </a:pPr>
            <a:r>
              <a:rPr lang="en-US" sz="1400" b="1" dirty="0">
                <a:solidFill>
                  <a:srgbClr val="434E60"/>
                </a:solidFill>
                <a:latin typeface="Yu Gothic" pitchFamily="34" charset="0"/>
                <a:ea typeface="Yu Gothic" pitchFamily="34" charset="-122"/>
                <a:cs typeface="Yu Gothic" pitchFamily="34" charset="-120"/>
              </a:rPr>
              <a:t>意味層 ↔ DB 整合テスト</a:t>
            </a:r>
            <a:endParaRPr lang="en-US" sz="1400" dirty="0"/>
          </a:p>
        </p:txBody>
      </p:sp>
      <p:sp>
        <p:nvSpPr>
          <p:cNvPr id="14" name="Text 12"/>
          <p:cNvSpPr txBox="1"/>
          <p:nvPr/>
        </p:nvSpPr>
        <p:spPr>
          <a:xfrm>
            <a:off x="8247888" y="1847088"/>
            <a:ext cx="3145536" cy="292608"/>
          </a:xfrm>
          <a:prstGeom prst="rect">
            <a:avLst/>
          </a:prstGeom>
          <a:noFill/>
          <a:ln/>
        </p:spPr>
        <p:txBody>
          <a:bodyPr wrap="square" lIns="0" tIns="0" rIns="0" bIns="0" rtlCol="0" anchor="ctr"/>
          <a:lstStyle/>
          <a:p>
            <a:pPr indent="0" marL="0">
              <a:lnSpc>
                <a:spcPts val="1400"/>
              </a:lnSpc>
              <a:buNone/>
            </a:pPr>
            <a:r>
              <a:rPr lang="en-US" sz="1050" b="1" dirty="0">
                <a:solidFill>
                  <a:srgbClr val="EB6834"/>
                </a:solidFill>
                <a:latin typeface="Yu Gothic" pitchFamily="34" charset="0"/>
                <a:ea typeface="Yu Gothic" pitchFamily="34" charset="-122"/>
                <a:cs typeface="Yu Gothic" pitchFamily="34" charset="-120"/>
              </a:rPr>
              <a:t>ドキュメントとスキーマの乖離を検出</a:t>
            </a:r>
            <a:endParaRPr lang="en-US" sz="1050" dirty="0"/>
          </a:p>
        </p:txBody>
      </p:sp>
      <p:sp>
        <p:nvSpPr>
          <p:cNvPr id="15" name="Text 13"/>
          <p:cNvSpPr txBox="1"/>
          <p:nvPr/>
        </p:nvSpPr>
        <p:spPr>
          <a:xfrm>
            <a:off x="8247888" y="2212848"/>
            <a:ext cx="3145536" cy="1188720"/>
          </a:xfrm>
          <a:prstGeom prst="rect">
            <a:avLst/>
          </a:prstGeom>
          <a:noFill/>
          <a:ln/>
        </p:spPr>
        <p:txBody>
          <a:bodyPr wrap="square" lIns="0" tIns="0" rIns="0" bIns="0" rtlCol="0" anchor="ctr"/>
          <a:lstStyle/>
          <a:p>
            <a:pPr indent="0" marL="0">
              <a:lnSpc>
                <a:spcPts val="1600"/>
              </a:lnSpc>
              <a:buNone/>
            </a:pPr>
            <a:r>
              <a:rPr lang="en-US" sz="1050" dirty="0">
                <a:solidFill>
                  <a:srgbClr val="232A36"/>
                </a:solidFill>
                <a:latin typeface="Yu Gothic" pitchFamily="34" charset="0"/>
                <a:ea typeface="Yu Gothic" pitchFamily="34" charset="-122"/>
                <a:cs typeface="Yu Gothic" pitchFamily="34" charset="-120"/>
              </a:rPr>
              <a:t>実際に列名の大文字小文字の不一致（Country / country）を検出。AI アシスタントが参照する定義が実体とずれない。</a:t>
            </a:r>
            <a:endParaRPr lang="en-US" sz="1050" dirty="0"/>
          </a:p>
        </p:txBody>
      </p:sp>
      <p:sp>
        <p:nvSpPr>
          <p:cNvPr id="16" name="Shape 14"/>
          <p:cNvSpPr/>
          <p:nvPr/>
        </p:nvSpPr>
        <p:spPr>
          <a:xfrm>
            <a:off x="548640" y="3749040"/>
            <a:ext cx="5577840" cy="1737360"/>
          </a:xfrm>
          <a:prstGeom prst="roundRect">
            <a:avLst>
              <a:gd name="adj" fmla="val 4211"/>
            </a:avLst>
          </a:prstGeom>
          <a:solidFill>
            <a:srgbClr val="F2F4F7"/>
          </a:solidFill>
          <a:ln/>
        </p:spPr>
      </p:sp>
      <p:sp>
        <p:nvSpPr>
          <p:cNvPr id="17" name="Text 15"/>
          <p:cNvSpPr txBox="1"/>
          <p:nvPr/>
        </p:nvSpPr>
        <p:spPr>
          <a:xfrm>
            <a:off x="768096" y="3913632"/>
            <a:ext cx="5138928" cy="237744"/>
          </a:xfrm>
          <a:prstGeom prst="rect">
            <a:avLst/>
          </a:prstGeom>
          <a:noFill/>
          <a:ln/>
        </p:spPr>
        <p:txBody>
          <a:bodyPr wrap="square" lIns="0" tIns="0" rIns="0" bIns="0" rtlCol="0" anchor="ctr"/>
          <a:lstStyle/>
          <a:p>
            <a:pPr indent="0" marL="0">
              <a:buNone/>
            </a:pPr>
            <a:r>
              <a:rPr lang="en-US" sz="1150" b="1" dirty="0">
                <a:solidFill>
                  <a:srgbClr val="EB6834"/>
                </a:solidFill>
                <a:latin typeface="Yu Gothic" pitchFamily="34" charset="0"/>
                <a:ea typeface="Yu Gothic" pitchFamily="34" charset="-122"/>
                <a:cs typeface="Yu Gothic" pitchFamily="34" charset="-120"/>
              </a:rPr>
              <a:t>アラート基準を作り直した</a:t>
            </a:r>
            <a:endParaRPr lang="en-US" sz="1150" dirty="0"/>
          </a:p>
        </p:txBody>
      </p:sp>
      <p:sp>
        <p:nvSpPr>
          <p:cNvPr id="18" name="Text 16"/>
          <p:cNvSpPr txBox="1"/>
          <p:nvPr/>
        </p:nvSpPr>
        <p:spPr>
          <a:xfrm>
            <a:off x="768096" y="4224528"/>
            <a:ext cx="5138928" cy="1097280"/>
          </a:xfrm>
          <a:prstGeom prst="rect">
            <a:avLst/>
          </a:prstGeom>
          <a:noFill/>
          <a:ln/>
        </p:spPr>
        <p:txBody>
          <a:bodyPr wrap="square" lIns="0" tIns="0" rIns="0" bIns="0" rtlCol="0" anchor="ctr"/>
          <a:lstStyle/>
          <a:p>
            <a:pPr indent="0" marL="0">
              <a:lnSpc>
                <a:spcPts val="1840"/>
              </a:lnSpc>
              <a:buNone/>
            </a:pPr>
            <a:r>
              <a:rPr lang="en-US" sz="1150" dirty="0">
                <a:solidFill>
                  <a:srgbClr val="232A36"/>
                </a:solidFill>
                <a:latin typeface="Yu Gothic" pitchFamily="34" charset="0"/>
                <a:ea typeface="Yu Gothic" pitchFamily="34" charset="-122"/>
                <a:cs typeface="Yu Gothic" pitchFamily="34" charset="-120"/>
              </a:rPr>
              <a:t>当初は「直近 7 営業日平均の 50% 未満」で行数急減を検知 → 営業時間の短い日曜がほぼ毎週アラートに。基準を「同じ曜日の過去 4 週平均」に変更し、24 日 → 19 日（うち 14 日が年末年始）。誤報が続く監視は、本番で誰にも見られなくなる。</a:t>
            </a:r>
            <a:endParaRPr lang="en-US" sz="1150" dirty="0"/>
          </a:p>
        </p:txBody>
      </p:sp>
      <p:sp>
        <p:nvSpPr>
          <p:cNvPr id="19" name="Shape 17"/>
          <p:cNvSpPr/>
          <p:nvPr/>
        </p:nvSpPr>
        <p:spPr>
          <a:xfrm>
            <a:off x="6492240" y="3749040"/>
            <a:ext cx="5120640" cy="1737360"/>
          </a:xfrm>
          <a:prstGeom prst="roundRect">
            <a:avLst>
              <a:gd name="adj" fmla="val 4211"/>
            </a:avLst>
          </a:prstGeom>
          <a:solidFill>
            <a:srgbClr val="F2F4F7"/>
          </a:solidFill>
          <a:ln/>
        </p:spPr>
      </p:sp>
      <p:sp>
        <p:nvSpPr>
          <p:cNvPr id="20" name="Text 18"/>
          <p:cNvSpPr txBox="1"/>
          <p:nvPr/>
        </p:nvSpPr>
        <p:spPr>
          <a:xfrm>
            <a:off x="6711696" y="3913632"/>
            <a:ext cx="4681728"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計算式は macro 1 本に集約</a:t>
            </a:r>
            <a:endParaRPr lang="en-US" sz="1150" dirty="0"/>
          </a:p>
        </p:txBody>
      </p:sp>
      <p:sp>
        <p:nvSpPr>
          <p:cNvPr id="21" name="Text 19"/>
          <p:cNvSpPr txBox="1"/>
          <p:nvPr/>
        </p:nvSpPr>
        <p:spPr>
          <a:xfrm>
            <a:off x="6711696" y="4224528"/>
            <a:ext cx="4681728" cy="1097280"/>
          </a:xfrm>
          <a:prstGeom prst="rect">
            <a:avLst/>
          </a:prstGeom>
          <a:noFill/>
          <a:ln/>
        </p:spPr>
        <p:txBody>
          <a:bodyPr wrap="square" lIns="0" tIns="0" rIns="0" bIns="0" rtlCol="0" anchor="ctr"/>
          <a:lstStyle/>
          <a:p>
            <a:pPr indent="0" marL="0">
              <a:lnSpc>
                <a:spcPts val="1840"/>
              </a:lnSpc>
              <a:buNone/>
            </a:pPr>
            <a:r>
              <a:rPr lang="en-US" sz="1150" dirty="0">
                <a:solidFill>
                  <a:srgbClr val="232A36"/>
                </a:solidFill>
                <a:latin typeface="Yu Gothic" pitchFamily="34" charset="0"/>
                <a:ea typeface="Yu Gothic" pitchFamily="34" charset="-122"/>
                <a:cs typeface="Yu Gothic" pitchFamily="34" charset="-120"/>
              </a:rPr>
              <a:t>Törnqvist の式は macro 1 つ。引数（group_col / chain）で、全体・カテゴリ別・日次連鎖・月接続の 4 モデルに展開している。式を直す場所が 1 箇所なので、直し漏れが起きない。</a:t>
            </a:r>
            <a:endParaRPr lang="en-US" sz="1150" dirty="0"/>
          </a:p>
        </p:txBody>
      </p:sp>
      <p:sp>
        <p:nvSpPr>
          <p:cNvPr id="22" name="Text 20"/>
          <p:cNvSpPr txBox="1"/>
          <p:nvPr/>
        </p:nvSpPr>
        <p:spPr>
          <a:xfrm>
            <a:off x="548640" y="5623560"/>
            <a:ext cx="11064240" cy="274320"/>
          </a:xfrm>
          <a:prstGeom prst="rect">
            <a:avLst/>
          </a:prstGeom>
          <a:noFill/>
          <a:ln/>
        </p:spPr>
        <p:txBody>
          <a:bodyPr wrap="square" lIns="0" tIns="0" rIns="0" bIns="0" rtlCol="0" anchor="ctr"/>
          <a:lstStyle/>
          <a:p>
            <a:pPr indent="0" marL="0">
              <a:buNone/>
            </a:pPr>
            <a:r>
              <a:rPr lang="en-US" sz="1100" dirty="0">
                <a:solidFill>
                  <a:srgbClr val="636C7C"/>
                </a:solidFill>
                <a:latin typeface="Yu Gothic" pitchFamily="34" charset="0"/>
                <a:ea typeface="Yu Gothic" pitchFamily="34" charset="-122"/>
                <a:cs typeface="Yu Gothic" pitchFamily="34" charset="-120"/>
              </a:rPr>
              <a:t>除外した行は削除せず exclusion_reason を付けて保持。クリーニングの内訳をダッシュボードから追える。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56032"/>
          </a:xfrm>
          <a:prstGeom prst="rect">
            <a:avLst/>
          </a:prstGeom>
          <a:noFill/>
          <a:ln/>
        </p:spPr>
        <p:txBody>
          <a:bodyPr wrap="square" lIns="0" tIns="0" rIns="0" bIns="0" rtlCol="0" anchor="ctr"/>
          <a:lstStyle/>
          <a:p>
            <a:pPr indent="0" marL="0">
              <a:buNone/>
            </a:pPr>
            <a:r>
              <a:rPr lang="en-US" sz="1200" b="1" spc="100" kern="0" dirty="0">
                <a:solidFill>
                  <a:srgbClr val="EB6834"/>
                </a:solidFill>
                <a:latin typeface="Yu Gothic" pitchFamily="34" charset="0"/>
                <a:ea typeface="Yu Gothic" pitchFamily="34" charset="-122"/>
                <a:cs typeface="Yu Gothic" pitchFamily="34" charset="-120"/>
              </a:rPr>
              <a:t>決定 ④</a:t>
            </a:r>
            <a:endParaRPr lang="en-US" sz="1200" dirty="0"/>
          </a:p>
        </p:txBody>
      </p:sp>
      <p:sp>
        <p:nvSpPr>
          <p:cNvPr id="3" name="Text 1"/>
          <p:cNvSpPr txBox="1"/>
          <p:nvPr/>
        </p:nvSpPr>
        <p:spPr>
          <a:xfrm>
            <a:off x="548640" y="658368"/>
            <a:ext cx="11064240" cy="502920"/>
          </a:xfrm>
          <a:prstGeom prst="rect">
            <a:avLst/>
          </a:prstGeom>
          <a:noFill/>
          <a:ln/>
        </p:spPr>
        <p:txBody>
          <a:bodyPr wrap="square" lIns="0" tIns="0" rIns="0" bIns="0" rtlCol="0" anchor="ctr"/>
          <a:lstStyle/>
          <a:p>
            <a:pPr indent="0" marL="0">
              <a:buNone/>
            </a:pPr>
            <a:r>
              <a:rPr lang="en-US" sz="2800" b="1" dirty="0">
                <a:solidFill>
                  <a:srgbClr val="232A36"/>
                </a:solidFill>
                <a:latin typeface="Yu Gothic" pitchFamily="34" charset="0"/>
                <a:ea typeface="Yu Gothic" pitchFamily="34" charset="-122"/>
                <a:cs typeface="Yu Gothic" pitchFamily="34" charset="-120"/>
              </a:rPr>
              <a:t>LLM の出力を「信用しない入力」として扱う</a:t>
            </a:r>
            <a:endParaRPr lang="en-US" sz="2800" dirty="0"/>
          </a:p>
        </p:txBody>
      </p:sp>
      <p:sp>
        <p:nvSpPr>
          <p:cNvPr id="4" name="Shape 2"/>
          <p:cNvSpPr/>
          <p:nvPr/>
        </p:nvSpPr>
        <p:spPr>
          <a:xfrm>
            <a:off x="548640" y="1371600"/>
            <a:ext cx="1615440" cy="1097280"/>
          </a:xfrm>
          <a:prstGeom prst="roundRect">
            <a:avLst>
              <a:gd name="adj" fmla="val 6667"/>
            </a:avLst>
          </a:prstGeom>
          <a:solidFill>
            <a:srgbClr val="F2F4F7"/>
          </a:solidFill>
          <a:ln/>
        </p:spPr>
      </p:sp>
      <p:sp>
        <p:nvSpPr>
          <p:cNvPr id="5" name="Text 3"/>
          <p:cNvSpPr txBox="1"/>
          <p:nvPr/>
        </p:nvSpPr>
        <p:spPr>
          <a:xfrm>
            <a:off x="658368" y="1517904"/>
            <a:ext cx="1395984" cy="274320"/>
          </a:xfrm>
          <a:prstGeom prst="rect">
            <a:avLst/>
          </a:prstGeom>
          <a:noFill/>
          <a:ln/>
        </p:spPr>
        <p:txBody>
          <a:bodyPr wrap="square" lIns="0" tIns="0" rIns="0" bIns="0" rtlCol="0" anchor="ctr"/>
          <a:lstStyle/>
          <a:p>
            <a:pPr algn="ctr" indent="0" marL="0">
              <a:buNone/>
            </a:pPr>
            <a:r>
              <a:rPr lang="en-US" sz="1200" b="1" dirty="0">
                <a:solidFill>
                  <a:srgbClr val="232A36"/>
                </a:solidFill>
                <a:latin typeface="Yu Gothic" pitchFamily="34" charset="0"/>
                <a:ea typeface="Yu Gothic" pitchFamily="34" charset="-122"/>
                <a:cs typeface="Yu Gothic" pitchFamily="34" charset="-120"/>
              </a:rPr>
              <a:t>意味層</a:t>
            </a:r>
            <a:endParaRPr lang="en-US" sz="1200" dirty="0"/>
          </a:p>
        </p:txBody>
      </p:sp>
      <p:sp>
        <p:nvSpPr>
          <p:cNvPr id="6" name="Text 4"/>
          <p:cNvSpPr txBox="1"/>
          <p:nvPr/>
        </p:nvSpPr>
        <p:spPr>
          <a:xfrm>
            <a:off x="640080" y="1828800"/>
            <a:ext cx="1432560" cy="530352"/>
          </a:xfrm>
          <a:prstGeom prst="rect">
            <a:avLst/>
          </a:prstGeom>
          <a:noFill/>
          <a:ln/>
        </p:spPr>
        <p:txBody>
          <a:bodyPr wrap="square" lIns="0" tIns="0" rIns="0" bIns="0" rtlCol="0" anchor="ctr"/>
          <a:lstStyle/>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7 テーブルの定義</a:t>
            </a:r>
            <a:endParaRPr lang="en-US" sz="1000" dirty="0"/>
          </a:p>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集計不可の列も明記</a:t>
            </a:r>
            <a:endParaRPr lang="en-US" sz="1000" dirty="0"/>
          </a:p>
        </p:txBody>
      </p:sp>
      <p:sp>
        <p:nvSpPr>
          <p:cNvPr id="7" name="Shape 5"/>
          <p:cNvSpPr/>
          <p:nvPr/>
        </p:nvSpPr>
        <p:spPr>
          <a:xfrm>
            <a:off x="2205228" y="1828800"/>
            <a:ext cx="192024" cy="182880"/>
          </a:xfrm>
          <a:prstGeom prst="rightArrow">
            <a:avLst/>
          </a:prstGeom>
          <a:solidFill>
            <a:srgbClr val="AEBACB"/>
          </a:solidFill>
          <a:ln/>
        </p:spPr>
      </p:sp>
      <p:sp>
        <p:nvSpPr>
          <p:cNvPr id="8" name="Shape 6"/>
          <p:cNvSpPr/>
          <p:nvPr/>
        </p:nvSpPr>
        <p:spPr>
          <a:xfrm>
            <a:off x="2438400" y="1371600"/>
            <a:ext cx="1615440" cy="1097280"/>
          </a:xfrm>
          <a:prstGeom prst="roundRect">
            <a:avLst>
              <a:gd name="adj" fmla="val 6667"/>
            </a:avLst>
          </a:prstGeom>
          <a:solidFill>
            <a:srgbClr val="F2F4F7"/>
          </a:solidFill>
          <a:ln/>
        </p:spPr>
      </p:sp>
      <p:sp>
        <p:nvSpPr>
          <p:cNvPr id="9" name="Text 7"/>
          <p:cNvSpPr txBox="1"/>
          <p:nvPr/>
        </p:nvSpPr>
        <p:spPr>
          <a:xfrm>
            <a:off x="2548128" y="1517904"/>
            <a:ext cx="1395984" cy="274320"/>
          </a:xfrm>
          <a:prstGeom prst="rect">
            <a:avLst/>
          </a:prstGeom>
          <a:noFill/>
          <a:ln/>
        </p:spPr>
        <p:txBody>
          <a:bodyPr wrap="square" lIns="0" tIns="0" rIns="0" bIns="0" rtlCol="0" anchor="ctr"/>
          <a:lstStyle/>
          <a:p>
            <a:pPr algn="ctr" indent="0" marL="0">
              <a:buNone/>
            </a:pPr>
            <a:r>
              <a:rPr lang="en-US" sz="1200" b="1" dirty="0">
                <a:solidFill>
                  <a:srgbClr val="232A36"/>
                </a:solidFill>
                <a:latin typeface="Yu Gothic" pitchFamily="34" charset="0"/>
                <a:ea typeface="Yu Gothic" pitchFamily="34" charset="-122"/>
                <a:cs typeface="Yu Gothic" pitchFamily="34" charset="-120"/>
              </a:rPr>
              <a:t>SQL 生成</a:t>
            </a:r>
            <a:endParaRPr lang="en-US" sz="1200" dirty="0"/>
          </a:p>
        </p:txBody>
      </p:sp>
      <p:sp>
        <p:nvSpPr>
          <p:cNvPr id="10" name="Text 8"/>
          <p:cNvSpPr txBox="1"/>
          <p:nvPr/>
        </p:nvSpPr>
        <p:spPr>
          <a:xfrm>
            <a:off x="2529840" y="1828800"/>
            <a:ext cx="1432560" cy="530352"/>
          </a:xfrm>
          <a:prstGeom prst="rect">
            <a:avLst/>
          </a:prstGeom>
          <a:noFill/>
          <a:ln/>
        </p:spPr>
        <p:txBody>
          <a:bodyPr wrap="square" lIns="0" tIns="0" rIns="0" bIns="0" rtlCol="0" anchor="ctr"/>
          <a:lstStyle/>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JSON で受け取る</a:t>
            </a:r>
            <a:endParaRPr lang="en-US" sz="1000" dirty="0"/>
          </a:p>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LLM は実行しない</a:t>
            </a:r>
            <a:endParaRPr lang="en-US" sz="1000" dirty="0"/>
          </a:p>
        </p:txBody>
      </p:sp>
      <p:sp>
        <p:nvSpPr>
          <p:cNvPr id="11" name="Shape 9"/>
          <p:cNvSpPr/>
          <p:nvPr/>
        </p:nvSpPr>
        <p:spPr>
          <a:xfrm>
            <a:off x="4094988" y="1828800"/>
            <a:ext cx="192024" cy="182880"/>
          </a:xfrm>
          <a:prstGeom prst="rightArrow">
            <a:avLst/>
          </a:prstGeom>
          <a:solidFill>
            <a:srgbClr val="AEBACB"/>
          </a:solidFill>
          <a:ln/>
        </p:spPr>
      </p:sp>
      <p:sp>
        <p:nvSpPr>
          <p:cNvPr id="12" name="Shape 10"/>
          <p:cNvSpPr/>
          <p:nvPr/>
        </p:nvSpPr>
        <p:spPr>
          <a:xfrm>
            <a:off x="4328160" y="1371600"/>
            <a:ext cx="1615440" cy="1097280"/>
          </a:xfrm>
          <a:prstGeom prst="roundRect">
            <a:avLst>
              <a:gd name="adj" fmla="val 6667"/>
            </a:avLst>
          </a:prstGeom>
          <a:solidFill>
            <a:srgbClr val="F2F4F7"/>
          </a:solidFill>
          <a:ln/>
        </p:spPr>
      </p:sp>
      <p:sp>
        <p:nvSpPr>
          <p:cNvPr id="13" name="Text 11"/>
          <p:cNvSpPr txBox="1"/>
          <p:nvPr/>
        </p:nvSpPr>
        <p:spPr>
          <a:xfrm>
            <a:off x="4437888" y="1517904"/>
            <a:ext cx="1395984" cy="274320"/>
          </a:xfrm>
          <a:prstGeom prst="rect">
            <a:avLst/>
          </a:prstGeom>
          <a:noFill/>
          <a:ln/>
        </p:spPr>
        <p:txBody>
          <a:bodyPr wrap="square" lIns="0" tIns="0" rIns="0" bIns="0" rtlCol="0" anchor="ctr"/>
          <a:lstStyle/>
          <a:p>
            <a:pPr algn="ctr" indent="0" marL="0">
              <a:buNone/>
            </a:pPr>
            <a:r>
              <a:rPr lang="en-US" sz="1200" b="1" dirty="0">
                <a:solidFill>
                  <a:srgbClr val="232A36"/>
                </a:solidFill>
                <a:latin typeface="Yu Gothic" pitchFamily="34" charset="0"/>
                <a:ea typeface="Yu Gothic" pitchFamily="34" charset="-122"/>
                <a:cs typeface="Yu Gothic" pitchFamily="34" charset="-120"/>
              </a:rPr>
              <a:t>構文木で検査</a:t>
            </a:r>
            <a:endParaRPr lang="en-US" sz="1200" dirty="0"/>
          </a:p>
        </p:txBody>
      </p:sp>
      <p:sp>
        <p:nvSpPr>
          <p:cNvPr id="14" name="Text 12"/>
          <p:cNvSpPr txBox="1"/>
          <p:nvPr/>
        </p:nvSpPr>
        <p:spPr>
          <a:xfrm>
            <a:off x="4419600" y="1828800"/>
            <a:ext cx="1432560" cy="530352"/>
          </a:xfrm>
          <a:prstGeom prst="rect">
            <a:avLst/>
          </a:prstGeom>
          <a:noFill/>
          <a:ln/>
        </p:spPr>
        <p:txBody>
          <a:bodyPr wrap="square" lIns="0" tIns="0" rIns="0" bIns="0" rtlCol="0" anchor="ctr"/>
          <a:lstStyle/>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sqlglot</a:t>
            </a:r>
            <a:endParaRPr lang="en-US" sz="1000" dirty="0"/>
          </a:p>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ホワイトリスト</a:t>
            </a:r>
            <a:endParaRPr lang="en-US" sz="1000" dirty="0"/>
          </a:p>
        </p:txBody>
      </p:sp>
      <p:sp>
        <p:nvSpPr>
          <p:cNvPr id="15" name="Shape 13"/>
          <p:cNvSpPr/>
          <p:nvPr/>
        </p:nvSpPr>
        <p:spPr>
          <a:xfrm>
            <a:off x="5984748" y="1828800"/>
            <a:ext cx="192024" cy="182880"/>
          </a:xfrm>
          <a:prstGeom prst="rightArrow">
            <a:avLst/>
          </a:prstGeom>
          <a:solidFill>
            <a:srgbClr val="AEBACB"/>
          </a:solidFill>
          <a:ln/>
        </p:spPr>
      </p:sp>
      <p:sp>
        <p:nvSpPr>
          <p:cNvPr id="16" name="Shape 14"/>
          <p:cNvSpPr/>
          <p:nvPr/>
        </p:nvSpPr>
        <p:spPr>
          <a:xfrm>
            <a:off x="6217920" y="1371600"/>
            <a:ext cx="1615440" cy="1097280"/>
          </a:xfrm>
          <a:prstGeom prst="roundRect">
            <a:avLst>
              <a:gd name="adj" fmla="val 6667"/>
            </a:avLst>
          </a:prstGeom>
          <a:solidFill>
            <a:srgbClr val="F2F4F7"/>
          </a:solidFill>
          <a:ln/>
        </p:spPr>
      </p:sp>
      <p:sp>
        <p:nvSpPr>
          <p:cNvPr id="17" name="Text 15"/>
          <p:cNvSpPr txBox="1"/>
          <p:nvPr/>
        </p:nvSpPr>
        <p:spPr>
          <a:xfrm>
            <a:off x="6327648" y="1517904"/>
            <a:ext cx="1395984" cy="274320"/>
          </a:xfrm>
          <a:prstGeom prst="rect">
            <a:avLst/>
          </a:prstGeom>
          <a:noFill/>
          <a:ln/>
        </p:spPr>
        <p:txBody>
          <a:bodyPr wrap="square" lIns="0" tIns="0" rIns="0" bIns="0" rtlCol="0" anchor="ctr"/>
          <a:lstStyle/>
          <a:p>
            <a:pPr algn="ctr" indent="0" marL="0">
              <a:buNone/>
            </a:pPr>
            <a:r>
              <a:rPr lang="en-US" sz="1200" b="1" dirty="0">
                <a:solidFill>
                  <a:srgbClr val="232A36"/>
                </a:solidFill>
                <a:latin typeface="Yu Gothic" pitchFamily="34" charset="0"/>
                <a:ea typeface="Yu Gothic" pitchFamily="34" charset="-122"/>
                <a:cs typeface="Yu Gothic" pitchFamily="34" charset="-120"/>
              </a:rPr>
              <a:t>read_only 実行</a:t>
            </a:r>
            <a:endParaRPr lang="en-US" sz="1200" dirty="0"/>
          </a:p>
        </p:txBody>
      </p:sp>
      <p:sp>
        <p:nvSpPr>
          <p:cNvPr id="18" name="Text 16"/>
          <p:cNvSpPr txBox="1"/>
          <p:nvPr/>
        </p:nvSpPr>
        <p:spPr>
          <a:xfrm>
            <a:off x="6309360" y="1828800"/>
            <a:ext cx="1432560" cy="530352"/>
          </a:xfrm>
          <a:prstGeom prst="rect">
            <a:avLst/>
          </a:prstGeom>
          <a:noFill/>
          <a:ln/>
        </p:spPr>
        <p:txBody>
          <a:bodyPr wrap="square" lIns="0" tIns="0" rIns="0" bIns="0" rtlCol="0" anchor="ctr"/>
          <a:lstStyle/>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外部アクセス無効</a:t>
            </a:r>
            <a:endParaRPr lang="en-US" sz="1000" dirty="0"/>
          </a:p>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エンジン側の防御</a:t>
            </a:r>
            <a:endParaRPr lang="en-US" sz="1000" dirty="0"/>
          </a:p>
        </p:txBody>
      </p:sp>
      <p:sp>
        <p:nvSpPr>
          <p:cNvPr id="19" name="Shape 17"/>
          <p:cNvSpPr/>
          <p:nvPr/>
        </p:nvSpPr>
        <p:spPr>
          <a:xfrm>
            <a:off x="7874508" y="1828800"/>
            <a:ext cx="192024" cy="182880"/>
          </a:xfrm>
          <a:prstGeom prst="rightArrow">
            <a:avLst/>
          </a:prstGeom>
          <a:solidFill>
            <a:srgbClr val="AEBACB"/>
          </a:solidFill>
          <a:ln/>
        </p:spPr>
      </p:sp>
      <p:sp>
        <p:nvSpPr>
          <p:cNvPr id="20" name="Shape 18"/>
          <p:cNvSpPr/>
          <p:nvPr/>
        </p:nvSpPr>
        <p:spPr>
          <a:xfrm>
            <a:off x="8107680" y="1371600"/>
            <a:ext cx="1615440" cy="1097280"/>
          </a:xfrm>
          <a:prstGeom prst="roundRect">
            <a:avLst>
              <a:gd name="adj" fmla="val 6667"/>
            </a:avLst>
          </a:prstGeom>
          <a:solidFill>
            <a:srgbClr val="F2F4F7"/>
          </a:solidFill>
          <a:ln/>
        </p:spPr>
      </p:sp>
      <p:sp>
        <p:nvSpPr>
          <p:cNvPr id="21" name="Text 19"/>
          <p:cNvSpPr txBox="1"/>
          <p:nvPr/>
        </p:nvSpPr>
        <p:spPr>
          <a:xfrm>
            <a:off x="8217408" y="1517904"/>
            <a:ext cx="1395984" cy="274320"/>
          </a:xfrm>
          <a:prstGeom prst="rect">
            <a:avLst/>
          </a:prstGeom>
          <a:noFill/>
          <a:ln/>
        </p:spPr>
        <p:txBody>
          <a:bodyPr wrap="square" lIns="0" tIns="0" rIns="0" bIns="0" rtlCol="0" anchor="ctr"/>
          <a:lstStyle/>
          <a:p>
            <a:pPr algn="ctr" indent="0" marL="0">
              <a:buNone/>
            </a:pPr>
            <a:r>
              <a:rPr lang="en-US" sz="1200" b="1" dirty="0">
                <a:solidFill>
                  <a:srgbClr val="232A36"/>
                </a:solidFill>
                <a:latin typeface="Yu Gothic" pitchFamily="34" charset="0"/>
                <a:ea typeface="Yu Gothic" pitchFamily="34" charset="-122"/>
                <a:cs typeface="Yu Gothic" pitchFamily="34" charset="-120"/>
              </a:rPr>
              <a:t>回答生成</a:t>
            </a:r>
            <a:endParaRPr lang="en-US" sz="1200" dirty="0"/>
          </a:p>
        </p:txBody>
      </p:sp>
      <p:sp>
        <p:nvSpPr>
          <p:cNvPr id="22" name="Text 20"/>
          <p:cNvSpPr txBox="1"/>
          <p:nvPr/>
        </p:nvSpPr>
        <p:spPr>
          <a:xfrm>
            <a:off x="8199120" y="1828800"/>
            <a:ext cx="1432560" cy="530352"/>
          </a:xfrm>
          <a:prstGeom prst="rect">
            <a:avLst/>
          </a:prstGeom>
          <a:noFill/>
          <a:ln/>
        </p:spPr>
        <p:txBody>
          <a:bodyPr wrap="square" lIns="0" tIns="0" rIns="0" bIns="0" rtlCol="0" anchor="ctr"/>
          <a:lstStyle/>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結果の行だけを</a:t>
            </a:r>
            <a:endParaRPr lang="en-US" sz="1000" dirty="0"/>
          </a:p>
          <a:p>
            <a:pPr algn="ctr" indent="0" marL="0">
              <a:lnSpc>
                <a:spcPts val="1400"/>
              </a:lnSpc>
              <a:buNone/>
            </a:pPr>
            <a:r>
              <a:rPr lang="en-US" sz="1000" dirty="0">
                <a:solidFill>
                  <a:srgbClr val="636C7C"/>
                </a:solidFill>
                <a:latin typeface="Yu Gothic" pitchFamily="34" charset="0"/>
                <a:ea typeface="Yu Gothic" pitchFamily="34" charset="-122"/>
                <a:cs typeface="Yu Gothic" pitchFamily="34" charset="-120"/>
              </a:rPr>
              <a:t>根拠にさせる</a:t>
            </a:r>
            <a:endParaRPr lang="en-US" sz="1000" dirty="0"/>
          </a:p>
        </p:txBody>
      </p:sp>
      <p:sp>
        <p:nvSpPr>
          <p:cNvPr id="23" name="Shape 21"/>
          <p:cNvSpPr/>
          <p:nvPr/>
        </p:nvSpPr>
        <p:spPr>
          <a:xfrm>
            <a:off x="9764268" y="1828800"/>
            <a:ext cx="192024" cy="182880"/>
          </a:xfrm>
          <a:prstGeom prst="rightArrow">
            <a:avLst/>
          </a:prstGeom>
          <a:solidFill>
            <a:srgbClr val="AEBACB"/>
          </a:solidFill>
          <a:ln/>
        </p:spPr>
      </p:sp>
      <p:sp>
        <p:nvSpPr>
          <p:cNvPr id="24" name="Shape 22"/>
          <p:cNvSpPr/>
          <p:nvPr/>
        </p:nvSpPr>
        <p:spPr>
          <a:xfrm>
            <a:off x="9997440" y="1371600"/>
            <a:ext cx="1615440" cy="1097280"/>
          </a:xfrm>
          <a:prstGeom prst="roundRect">
            <a:avLst>
              <a:gd name="adj" fmla="val 6667"/>
            </a:avLst>
          </a:prstGeom>
          <a:solidFill>
            <a:srgbClr val="DCE2EA"/>
          </a:solidFill>
          <a:ln/>
        </p:spPr>
      </p:sp>
      <p:sp>
        <p:nvSpPr>
          <p:cNvPr id="25" name="Text 23"/>
          <p:cNvSpPr txBox="1"/>
          <p:nvPr/>
        </p:nvSpPr>
        <p:spPr>
          <a:xfrm>
            <a:off x="10107168" y="1517904"/>
            <a:ext cx="1395984" cy="274320"/>
          </a:xfrm>
          <a:prstGeom prst="rect">
            <a:avLst/>
          </a:prstGeom>
          <a:noFill/>
          <a:ln/>
        </p:spPr>
        <p:txBody>
          <a:bodyPr wrap="square" lIns="0" tIns="0" rIns="0" bIns="0" rtlCol="0" anchor="ctr"/>
          <a:lstStyle/>
          <a:p>
            <a:pPr algn="ctr" indent="0" marL="0">
              <a:buNone/>
            </a:pPr>
            <a:r>
              <a:rPr lang="en-US" sz="1200" b="1" dirty="0">
                <a:solidFill>
                  <a:srgbClr val="434E60"/>
                </a:solidFill>
                <a:latin typeface="Yu Gothic" pitchFamily="34" charset="0"/>
                <a:ea typeface="Yu Gothic" pitchFamily="34" charset="-122"/>
                <a:cs typeface="Yu Gothic" pitchFamily="34" charset="-120"/>
              </a:rPr>
              <a:t>数値照合</a:t>
            </a:r>
            <a:endParaRPr lang="en-US" sz="1200" dirty="0"/>
          </a:p>
        </p:txBody>
      </p:sp>
      <p:sp>
        <p:nvSpPr>
          <p:cNvPr id="26" name="Text 24"/>
          <p:cNvSpPr txBox="1"/>
          <p:nvPr/>
        </p:nvSpPr>
        <p:spPr>
          <a:xfrm>
            <a:off x="10088880" y="1828800"/>
            <a:ext cx="1432560" cy="530352"/>
          </a:xfrm>
          <a:prstGeom prst="rect">
            <a:avLst/>
          </a:prstGeom>
          <a:noFill/>
          <a:ln/>
        </p:spPr>
        <p:txBody>
          <a:bodyPr wrap="square" lIns="0" tIns="0" rIns="0" bIns="0" rtlCol="0" anchor="ctr"/>
          <a:lstStyle/>
          <a:p>
            <a:pPr algn="ctr" indent="0" marL="0">
              <a:lnSpc>
                <a:spcPts val="1400"/>
              </a:lnSpc>
              <a:buNone/>
            </a:pPr>
            <a:r>
              <a:rPr lang="en-US" sz="1000" dirty="0">
                <a:solidFill>
                  <a:srgbClr val="434E60"/>
                </a:solidFill>
                <a:latin typeface="Yu Gothic" pitchFamily="34" charset="0"/>
                <a:ea typeface="Yu Gothic" pitchFamily="34" charset="-122"/>
                <a:cs typeface="Yu Gothic" pitchFamily="34" charset="-120"/>
              </a:rPr>
              <a:t>引用値を結果と突合</a:t>
            </a:r>
            <a:endParaRPr lang="en-US" sz="1000" dirty="0"/>
          </a:p>
          <a:p>
            <a:pPr algn="ctr" indent="0" marL="0">
              <a:lnSpc>
                <a:spcPts val="1400"/>
              </a:lnSpc>
              <a:buNone/>
            </a:pPr>
            <a:r>
              <a:rPr lang="en-US" sz="1000" dirty="0">
                <a:solidFill>
                  <a:srgbClr val="434E60"/>
                </a:solidFill>
                <a:latin typeface="Yu Gothic" pitchFamily="34" charset="0"/>
                <a:ea typeface="Yu Gothic" pitchFamily="34" charset="-122"/>
                <a:cs typeface="Yu Gothic" pitchFamily="34" charset="-120"/>
              </a:rPr>
              <a:t>不一致は ⚠ 表示</a:t>
            </a:r>
            <a:endParaRPr lang="en-US" sz="1000" dirty="0"/>
          </a:p>
        </p:txBody>
      </p:sp>
      <p:sp>
        <p:nvSpPr>
          <p:cNvPr id="27" name="Shape 25"/>
          <p:cNvSpPr/>
          <p:nvPr/>
        </p:nvSpPr>
        <p:spPr>
          <a:xfrm>
            <a:off x="548640" y="2697480"/>
            <a:ext cx="5577840" cy="1828800"/>
          </a:xfrm>
          <a:prstGeom prst="roundRect">
            <a:avLst>
              <a:gd name="adj" fmla="val 4000"/>
            </a:avLst>
          </a:prstGeom>
          <a:solidFill>
            <a:srgbClr val="F2F4F7"/>
          </a:solidFill>
          <a:ln/>
        </p:spPr>
      </p:sp>
      <p:sp>
        <p:nvSpPr>
          <p:cNvPr id="28" name="Text 26"/>
          <p:cNvSpPr txBox="1"/>
          <p:nvPr/>
        </p:nvSpPr>
        <p:spPr>
          <a:xfrm>
            <a:off x="768096" y="2862072"/>
            <a:ext cx="5138928"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ガードの 4 規則（13 の攻撃ケースでテスト）</a:t>
            </a:r>
            <a:endParaRPr lang="en-US" sz="1150" dirty="0"/>
          </a:p>
        </p:txBody>
      </p:sp>
      <p:sp>
        <p:nvSpPr>
          <p:cNvPr id="29" name="Text 27"/>
          <p:cNvSpPr txBox="1"/>
          <p:nvPr/>
        </p:nvSpPr>
        <p:spPr>
          <a:xfrm>
            <a:off x="768096" y="3172968"/>
            <a:ext cx="5138928" cy="1188720"/>
          </a:xfrm>
          <a:prstGeom prst="rect">
            <a:avLst/>
          </a:prstGeom>
          <a:noFill/>
          <a:ln/>
        </p:spPr>
        <p:txBody>
          <a:bodyPr wrap="square" lIns="0" tIns="0" rIns="0" bIns="0" rtlCol="0" anchor="ctr"/>
          <a:lstStyle/>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① 1 文のみ　② 読み取り専用クエリのみ（DDL/DML・COPY・ATTACH・PRAGMA を拒否）</a:t>
            </a:r>
            <a:endParaRPr lang="en-US" sz="1100" dirty="0"/>
          </a:p>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③ 許可テーブルのみ（CTE 別名での偽装も検出）　④ テーブル関数を禁止</a:t>
            </a:r>
            <a:endParaRPr lang="en-US" sz="1100" dirty="0"/>
          </a:p>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read_csv('/etc/passwd') は構文的には正当な SELECT なので、正規表現ではなく構文木で判定している。</a:t>
            </a:r>
            <a:endParaRPr lang="en-US" sz="1100" dirty="0"/>
          </a:p>
        </p:txBody>
      </p:sp>
      <p:sp>
        <p:nvSpPr>
          <p:cNvPr id="30" name="Shape 28"/>
          <p:cNvSpPr/>
          <p:nvPr/>
        </p:nvSpPr>
        <p:spPr>
          <a:xfrm>
            <a:off x="6492240" y="2697480"/>
            <a:ext cx="5120640" cy="1828800"/>
          </a:xfrm>
          <a:prstGeom prst="roundRect">
            <a:avLst>
              <a:gd name="adj" fmla="val 4000"/>
            </a:avLst>
          </a:prstGeom>
          <a:solidFill>
            <a:srgbClr val="F2F4F7"/>
          </a:solidFill>
          <a:ln/>
        </p:spPr>
      </p:sp>
      <p:sp>
        <p:nvSpPr>
          <p:cNvPr id="31" name="Text 29"/>
          <p:cNvSpPr txBox="1"/>
          <p:nvPr/>
        </p:nvSpPr>
        <p:spPr>
          <a:xfrm>
            <a:off x="6711696" y="2862072"/>
            <a:ext cx="4681728"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自己修正（上限 3 回）</a:t>
            </a:r>
            <a:endParaRPr lang="en-US" sz="1150" dirty="0"/>
          </a:p>
        </p:txBody>
      </p:sp>
      <p:sp>
        <p:nvSpPr>
          <p:cNvPr id="32" name="Text 30"/>
          <p:cNvSpPr txBox="1"/>
          <p:nvPr/>
        </p:nvSpPr>
        <p:spPr>
          <a:xfrm>
            <a:off x="6711696" y="3172968"/>
            <a:ext cx="4681728" cy="1188720"/>
          </a:xfrm>
          <a:prstGeom prst="rect">
            <a:avLst/>
          </a:prstGeom>
          <a:noFill/>
          <a:ln/>
        </p:spPr>
        <p:txBody>
          <a:bodyPr wrap="square" lIns="0" tIns="0" rIns="0" bIns="0" rtlCol="0" anchor="ctr"/>
          <a:lstStyle/>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検査や実行でエラーになったら、エラー文をそのまま LLM に返して書き直させる。ループを許すのはここだけで、回数は固定。無制限の自律ループにはしていない。</a:t>
            </a:r>
            <a:endParaRPr lang="en-US" sz="1100" dirty="0"/>
          </a:p>
        </p:txBody>
      </p:sp>
      <p:sp>
        <p:nvSpPr>
          <p:cNvPr id="33" name="Text 31"/>
          <p:cNvSpPr txBox="1"/>
          <p:nvPr/>
        </p:nvSpPr>
        <p:spPr>
          <a:xfrm>
            <a:off x="548640" y="4709160"/>
            <a:ext cx="11064240" cy="237744"/>
          </a:xfrm>
          <a:prstGeom prst="rect">
            <a:avLst/>
          </a:prstGeom>
          <a:noFill/>
          <a:ln/>
        </p:spPr>
        <p:txBody>
          <a:bodyPr wrap="square" lIns="0" tIns="0" rIns="0" bIns="0" rtlCol="0" anchor="ctr"/>
          <a:lstStyle/>
          <a:p>
            <a:pPr indent="0" marL="0">
              <a:buNone/>
            </a:pPr>
            <a:r>
              <a:rPr lang="en-US" sz="1150" b="1" dirty="0">
                <a:solidFill>
                  <a:srgbClr val="EB6834"/>
                </a:solidFill>
                <a:latin typeface="Yu Gothic" pitchFamily="34" charset="0"/>
                <a:ea typeface="Yu Gothic" pitchFamily="34" charset="-122"/>
                <a:cs typeface="Yu Gothic" pitchFamily="34" charset="-120"/>
              </a:rPr>
              <a:t>function calling を使わなかった理由</a:t>
            </a:r>
            <a:endParaRPr lang="en-US" sz="1150" dirty="0"/>
          </a:p>
        </p:txBody>
      </p:sp>
      <p:sp>
        <p:nvSpPr>
          <p:cNvPr id="34" name="Text 32"/>
          <p:cNvSpPr txBox="1"/>
          <p:nvPr/>
        </p:nvSpPr>
        <p:spPr>
          <a:xfrm>
            <a:off x="548640" y="5001768"/>
            <a:ext cx="11064240" cy="804672"/>
          </a:xfrm>
          <a:prstGeom prst="rect">
            <a:avLst/>
          </a:prstGeom>
          <a:noFill/>
          <a:ln/>
        </p:spPr>
        <p:txBody>
          <a:bodyPr wrap="square" lIns="0" tIns="0" rIns="0" bIns="0" rtlCol="0" anchor="ctr"/>
          <a:lstStyle/>
          <a:p>
            <a:pPr indent="0" marL="0">
              <a:lnSpc>
                <a:spcPts val="1840"/>
              </a:lnSpc>
              <a:buNone/>
            </a:pPr>
            <a:r>
              <a:rPr lang="en-US" sz="1150" dirty="0">
                <a:solidFill>
                  <a:srgbClr val="232A36"/>
                </a:solidFill>
                <a:latin typeface="Yu Gothic" pitchFamily="34" charset="0"/>
                <a:ea typeface="Yu Gothic" pitchFamily="34" charset="-122"/>
                <a:cs typeface="Yu Gothic" pitchFamily="34" charset="-120"/>
              </a:rPr>
              <a:t>ツールが「SQL を 1 本投げる」だけなら、function calling はプロトコルの追加コストにしかならない。また tools を使わないことで、JSON さえ返せればどの provider でも動く。欲しかったのは「モデルが提案し、コードが承認する」形であって、「モデルが呼び、フレームワークが実行する」形ではない。テーブルが数百に増えてスキーマ探索が要るようになれば、search_tables / describe_table / run_query を tool として足す。</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56032"/>
          </a:xfrm>
          <a:prstGeom prst="rect">
            <a:avLst/>
          </a:prstGeom>
          <a:noFill/>
          <a:ln/>
        </p:spPr>
        <p:txBody>
          <a:bodyPr wrap="square" lIns="0" tIns="0" rIns="0" bIns="0" rtlCol="0" anchor="ctr"/>
          <a:lstStyle/>
          <a:p>
            <a:pPr indent="0" marL="0">
              <a:buNone/>
            </a:pPr>
            <a:r>
              <a:rPr lang="en-US" sz="1200" b="1" spc="100" kern="0" dirty="0">
                <a:solidFill>
                  <a:srgbClr val="EB6834"/>
                </a:solidFill>
                <a:latin typeface="Yu Gothic" pitchFamily="34" charset="0"/>
                <a:ea typeface="Yu Gothic" pitchFamily="34" charset="-122"/>
                <a:cs typeface="Yu Gothic" pitchFamily="34" charset="-120"/>
              </a:rPr>
              <a:t>評価と限界</a:t>
            </a:r>
            <a:endParaRPr lang="en-US" sz="1200" dirty="0"/>
          </a:p>
        </p:txBody>
      </p:sp>
      <p:sp>
        <p:nvSpPr>
          <p:cNvPr id="3" name="Text 1"/>
          <p:cNvSpPr txBox="1"/>
          <p:nvPr/>
        </p:nvSpPr>
        <p:spPr>
          <a:xfrm>
            <a:off x="548640" y="658368"/>
            <a:ext cx="11064240" cy="502920"/>
          </a:xfrm>
          <a:prstGeom prst="rect">
            <a:avLst/>
          </a:prstGeom>
          <a:noFill/>
          <a:ln/>
        </p:spPr>
        <p:txBody>
          <a:bodyPr wrap="square" lIns="0" tIns="0" rIns="0" bIns="0" rtlCol="0" anchor="ctr"/>
          <a:lstStyle/>
          <a:p>
            <a:pPr indent="0" marL="0">
              <a:buNone/>
            </a:pPr>
            <a:r>
              <a:rPr lang="en-US" sz="2800" b="1" dirty="0">
                <a:solidFill>
                  <a:srgbClr val="232A36"/>
                </a:solidFill>
                <a:latin typeface="Yu Gothic" pitchFamily="34" charset="0"/>
                <a:ea typeface="Yu Gothic" pitchFamily="34" charset="-122"/>
                <a:cs typeface="Yu Gothic" pitchFamily="34" charset="-120"/>
              </a:rPr>
              <a:t>測れるようにした部分と、まだ出来ていない部分</a:t>
            </a:r>
            <a:endParaRPr lang="en-US" sz="2800" dirty="0"/>
          </a:p>
        </p:txBody>
      </p:sp>
      <p:sp>
        <p:nvSpPr>
          <p:cNvPr id="4" name="Shape 2"/>
          <p:cNvSpPr/>
          <p:nvPr/>
        </p:nvSpPr>
        <p:spPr>
          <a:xfrm>
            <a:off x="548640" y="1371600"/>
            <a:ext cx="3584448" cy="1554480"/>
          </a:xfrm>
          <a:prstGeom prst="roundRect">
            <a:avLst>
              <a:gd name="adj" fmla="val 4706"/>
            </a:avLst>
          </a:prstGeom>
          <a:solidFill>
            <a:srgbClr val="434E60"/>
          </a:solidFill>
          <a:ln/>
        </p:spPr>
      </p:sp>
      <p:sp>
        <p:nvSpPr>
          <p:cNvPr id="5" name="Text 3"/>
          <p:cNvSpPr txBox="1"/>
          <p:nvPr/>
        </p:nvSpPr>
        <p:spPr>
          <a:xfrm>
            <a:off x="768096" y="1517904"/>
            <a:ext cx="3145536" cy="45720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20 / 20</a:t>
            </a:r>
            <a:endParaRPr lang="en-US" sz="2600" dirty="0"/>
          </a:p>
        </p:txBody>
      </p:sp>
      <p:sp>
        <p:nvSpPr>
          <p:cNvPr id="6" name="Text 4"/>
          <p:cNvSpPr txBox="1"/>
          <p:nvPr/>
        </p:nvSpPr>
        <p:spPr>
          <a:xfrm>
            <a:off x="768096" y="1993392"/>
            <a:ext cx="3145536" cy="868680"/>
          </a:xfrm>
          <a:prstGeom prst="rect">
            <a:avLst/>
          </a:prstGeom>
          <a:noFill/>
          <a:ln/>
        </p:spPr>
        <p:txBody>
          <a:bodyPr wrap="square" lIns="0" tIns="0" rIns="0" bIns="0" rtlCol="0" anchor="ctr"/>
          <a:lstStyle/>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eval set 正解率</a:t>
            </a:r>
            <a:endParaRPr lang="en-US" sz="1000" dirty="0"/>
          </a:p>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日本語・中文・英語、うち 2 問は</a:t>
            </a:r>
            <a:endParaRPr lang="en-US" sz="1000" dirty="0"/>
          </a:p>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「答えられない」が正解</a:t>
            </a:r>
            <a:endParaRPr lang="en-US" sz="1000" dirty="0"/>
          </a:p>
        </p:txBody>
      </p:sp>
      <p:sp>
        <p:nvSpPr>
          <p:cNvPr id="7" name="Shape 5"/>
          <p:cNvSpPr/>
          <p:nvPr/>
        </p:nvSpPr>
        <p:spPr>
          <a:xfrm>
            <a:off x="4288536" y="1371600"/>
            <a:ext cx="3584448" cy="1554480"/>
          </a:xfrm>
          <a:prstGeom prst="roundRect">
            <a:avLst>
              <a:gd name="adj" fmla="val 4706"/>
            </a:avLst>
          </a:prstGeom>
          <a:solidFill>
            <a:srgbClr val="434E60"/>
          </a:solidFill>
          <a:ln/>
        </p:spPr>
      </p:sp>
      <p:sp>
        <p:nvSpPr>
          <p:cNvPr id="8" name="Text 6"/>
          <p:cNvSpPr txBox="1"/>
          <p:nvPr/>
        </p:nvSpPr>
        <p:spPr>
          <a:xfrm>
            <a:off x="4507992" y="1517904"/>
            <a:ext cx="3145536" cy="45720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1.6 秒</a:t>
            </a:r>
            <a:endParaRPr lang="en-US" sz="2600" dirty="0"/>
          </a:p>
        </p:txBody>
      </p:sp>
      <p:sp>
        <p:nvSpPr>
          <p:cNvPr id="9" name="Text 7"/>
          <p:cNvSpPr txBox="1"/>
          <p:nvPr/>
        </p:nvSpPr>
        <p:spPr>
          <a:xfrm>
            <a:off x="4507992" y="1993392"/>
            <a:ext cx="3145536" cy="868680"/>
          </a:xfrm>
          <a:prstGeom prst="rect">
            <a:avLst/>
          </a:prstGeom>
          <a:noFill/>
          <a:ln/>
        </p:spPr>
        <p:txBody>
          <a:bodyPr wrap="square" lIns="0" tIns="0" rIns="0" bIns="0" rtlCol="0" anchor="ctr"/>
          <a:lstStyle/>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1 問あたりの平均応答</a:t>
            </a:r>
            <a:endParaRPr lang="en-US" sz="1000" dirty="0"/>
          </a:p>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2 回の LLM 呼び出し・約 2,000 tokens</a:t>
            </a:r>
            <a:endParaRPr lang="en-US" sz="1000" dirty="0"/>
          </a:p>
        </p:txBody>
      </p:sp>
      <p:sp>
        <p:nvSpPr>
          <p:cNvPr id="10" name="Shape 8"/>
          <p:cNvSpPr/>
          <p:nvPr/>
        </p:nvSpPr>
        <p:spPr>
          <a:xfrm>
            <a:off x="8028432" y="1371600"/>
            <a:ext cx="3584448" cy="1554480"/>
          </a:xfrm>
          <a:prstGeom prst="roundRect">
            <a:avLst>
              <a:gd name="adj" fmla="val 4706"/>
            </a:avLst>
          </a:prstGeom>
          <a:solidFill>
            <a:srgbClr val="434E60"/>
          </a:solidFill>
          <a:ln/>
        </p:spPr>
      </p:sp>
      <p:sp>
        <p:nvSpPr>
          <p:cNvPr id="11" name="Text 9"/>
          <p:cNvSpPr txBox="1"/>
          <p:nvPr/>
        </p:nvSpPr>
        <p:spPr>
          <a:xfrm>
            <a:off x="8247888" y="1517904"/>
            <a:ext cx="3145536" cy="45720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26 件</a:t>
            </a:r>
            <a:endParaRPr lang="en-US" sz="2600" dirty="0"/>
          </a:p>
        </p:txBody>
      </p:sp>
      <p:sp>
        <p:nvSpPr>
          <p:cNvPr id="12" name="Text 10"/>
          <p:cNvSpPr txBox="1"/>
          <p:nvPr/>
        </p:nvSpPr>
        <p:spPr>
          <a:xfrm>
            <a:off x="8247888" y="1993392"/>
            <a:ext cx="3145536" cy="868680"/>
          </a:xfrm>
          <a:prstGeom prst="rect">
            <a:avLst/>
          </a:prstGeom>
          <a:noFill/>
          <a:ln/>
        </p:spPr>
        <p:txBody>
          <a:bodyPr wrap="square" lIns="0" tIns="0" rIns="0" bIns="0" rtlCol="0" anchor="ctr"/>
          <a:lstStyle/>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pytest（ネットワーク不要）</a:t>
            </a:r>
            <a:endParaRPr lang="en-US" sz="1000" dirty="0"/>
          </a:p>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LLM を注入で差し替え、拒否→再生成の</a:t>
            </a:r>
            <a:endParaRPr lang="en-US" sz="1000" dirty="0"/>
          </a:p>
          <a:p>
            <a:pPr indent="0" marL="0">
              <a:lnSpc>
                <a:spcPts val="1400"/>
              </a:lnSpc>
              <a:buNone/>
            </a:pPr>
            <a:r>
              <a:rPr lang="en-US" sz="1000" dirty="0">
                <a:solidFill>
                  <a:srgbClr val="DCE2EA"/>
                </a:solidFill>
                <a:latin typeface="Yu Gothic" pitchFamily="34" charset="0"/>
                <a:ea typeface="Yu Gothic" pitchFamily="34" charset="-122"/>
                <a:cs typeface="Yu Gothic" pitchFamily="34" charset="-120"/>
              </a:rPr>
              <a:t>全経路をテスト</a:t>
            </a:r>
            <a:endParaRPr lang="en-US" sz="1000" dirty="0"/>
          </a:p>
        </p:txBody>
      </p:sp>
      <p:sp>
        <p:nvSpPr>
          <p:cNvPr id="13" name="Shape 11"/>
          <p:cNvSpPr/>
          <p:nvPr/>
        </p:nvSpPr>
        <p:spPr>
          <a:xfrm>
            <a:off x="548640" y="3108960"/>
            <a:ext cx="5577840" cy="1325880"/>
          </a:xfrm>
          <a:prstGeom prst="roundRect">
            <a:avLst>
              <a:gd name="adj" fmla="val 5517"/>
            </a:avLst>
          </a:prstGeom>
          <a:solidFill>
            <a:srgbClr val="F2F4F7"/>
          </a:solidFill>
          <a:ln/>
        </p:spPr>
      </p:sp>
      <p:sp>
        <p:nvSpPr>
          <p:cNvPr id="14" name="Text 12"/>
          <p:cNvSpPr txBox="1"/>
          <p:nvPr/>
        </p:nvSpPr>
        <p:spPr>
          <a:xfrm>
            <a:off x="768096" y="3273552"/>
            <a:ext cx="5138928" cy="237744"/>
          </a:xfrm>
          <a:prstGeom prst="rect">
            <a:avLst/>
          </a:prstGeom>
          <a:noFill/>
          <a:ln/>
        </p:spPr>
        <p:txBody>
          <a:bodyPr wrap="square" lIns="0" tIns="0" rIns="0" bIns="0" rtlCol="0" anchor="ctr"/>
          <a:lstStyle/>
          <a:p>
            <a:pPr indent="0" marL="0">
              <a:buNone/>
            </a:pPr>
            <a:r>
              <a:rPr lang="en-US" sz="1150" b="1" dirty="0">
                <a:solidFill>
                  <a:srgbClr val="EB6834"/>
                </a:solidFill>
                <a:latin typeface="Yu Gothic" pitchFamily="34" charset="0"/>
                <a:ea typeface="Yu Gothic" pitchFamily="34" charset="-122"/>
                <a:cs typeface="Yu Gothic" pitchFamily="34" charset="-120"/>
              </a:rPr>
              <a:t>評価スクリプト自体のバグを 1 件見つけた</a:t>
            </a:r>
            <a:endParaRPr lang="en-US" sz="1150" dirty="0"/>
          </a:p>
        </p:txBody>
      </p:sp>
      <p:sp>
        <p:nvSpPr>
          <p:cNvPr id="15" name="Text 13"/>
          <p:cNvSpPr txBox="1"/>
          <p:nvPr/>
        </p:nvSpPr>
        <p:spPr>
          <a:xfrm>
            <a:off x="768096" y="3584448"/>
            <a:ext cx="5138928" cy="685800"/>
          </a:xfrm>
          <a:prstGeom prst="rect">
            <a:avLst/>
          </a:prstGeom>
          <a:noFill/>
          <a:ln/>
        </p:spPr>
        <p:txBody>
          <a:bodyPr wrap="square" lIns="0" tIns="0" rIns="0" bIns="0" rtlCol="0" anchor="ctr"/>
          <a:lstStyle/>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モデルは 5.06（%）、正解 SQL は 0.0506（比率）を返し、両方正しいのに不正解と判定していた。採点側の単位の扱いが原因。評価結果も検証の対象にしている。</a:t>
            </a:r>
            <a:endParaRPr lang="en-US" sz="1100" dirty="0"/>
          </a:p>
        </p:txBody>
      </p:sp>
      <p:sp>
        <p:nvSpPr>
          <p:cNvPr id="16" name="Shape 14"/>
          <p:cNvSpPr/>
          <p:nvPr/>
        </p:nvSpPr>
        <p:spPr>
          <a:xfrm>
            <a:off x="548640" y="4572000"/>
            <a:ext cx="5577840" cy="1234440"/>
          </a:xfrm>
          <a:prstGeom prst="roundRect">
            <a:avLst>
              <a:gd name="adj" fmla="val 5926"/>
            </a:avLst>
          </a:prstGeom>
          <a:solidFill>
            <a:srgbClr val="F2F4F7"/>
          </a:solidFill>
          <a:ln/>
        </p:spPr>
      </p:sp>
      <p:sp>
        <p:nvSpPr>
          <p:cNvPr id="17" name="Text 15"/>
          <p:cNvSpPr txBox="1"/>
          <p:nvPr/>
        </p:nvSpPr>
        <p:spPr>
          <a:xfrm>
            <a:off x="768096" y="4736592"/>
            <a:ext cx="5138928" cy="237744"/>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観測できるようにしたもの</a:t>
            </a:r>
            <a:endParaRPr lang="en-US" sz="1150" dirty="0"/>
          </a:p>
        </p:txBody>
      </p:sp>
      <p:sp>
        <p:nvSpPr>
          <p:cNvPr id="18" name="Text 16"/>
          <p:cNvSpPr txBox="1"/>
          <p:nvPr/>
        </p:nvSpPr>
        <p:spPr>
          <a:xfrm>
            <a:off x="768096" y="5047488"/>
            <a:ext cx="5138928" cy="594360"/>
          </a:xfrm>
          <a:prstGeom prst="rect">
            <a:avLst/>
          </a:prstGeom>
          <a:noFill/>
          <a:ln/>
        </p:spPr>
        <p:txBody>
          <a:bodyPr wrap="square" lIns="0" tIns="0" rIns="0" bIns="0" rtlCol="0" anchor="ctr"/>
          <a:lstStyle/>
          <a:p>
            <a:pPr indent="0" marL="0">
              <a:lnSpc>
                <a:spcPts val="1760"/>
              </a:lnSpc>
              <a:buNone/>
            </a:pPr>
            <a:r>
              <a:rPr lang="en-US" sz="1100" dirty="0">
                <a:solidFill>
                  <a:srgbClr val="232A36"/>
                </a:solidFill>
                <a:latin typeface="Yu Gothic" pitchFamily="34" charset="0"/>
                <a:ea typeface="Yu Gothic" pitchFamily="34" charset="-122"/>
                <a:cs typeface="Yu Gothic" pitchFamily="34" charset="-120"/>
              </a:rPr>
              <a:t>質問・生成 SQL・再試行回数・未検証の数値・tokens・レイテンシを JSONL に記録。本番で監視したい項目をそのまま出している。</a:t>
            </a:r>
            <a:endParaRPr lang="en-US" sz="1100" dirty="0"/>
          </a:p>
        </p:txBody>
      </p:sp>
      <p:sp>
        <p:nvSpPr>
          <p:cNvPr id="19" name="Text 17"/>
          <p:cNvSpPr txBox="1"/>
          <p:nvPr/>
        </p:nvSpPr>
        <p:spPr>
          <a:xfrm>
            <a:off x="6492240" y="3108960"/>
            <a:ext cx="5120640" cy="256032"/>
          </a:xfrm>
          <a:prstGeom prst="rect">
            <a:avLst/>
          </a:prstGeom>
          <a:noFill/>
          <a:ln/>
        </p:spPr>
        <p:txBody>
          <a:bodyPr wrap="square" lIns="0" tIns="0" rIns="0" bIns="0" rtlCol="0" anchor="ctr"/>
          <a:lstStyle/>
          <a:p>
            <a:pPr indent="0" marL="0">
              <a:buNone/>
            </a:pPr>
            <a:r>
              <a:rPr lang="en-US" sz="1150" b="1" dirty="0">
                <a:solidFill>
                  <a:srgbClr val="636C7C"/>
                </a:solidFill>
                <a:latin typeface="Yu Gothic" pitchFamily="34" charset="0"/>
                <a:ea typeface="Yu Gothic" pitchFamily="34" charset="-122"/>
                <a:cs typeface="Yu Gothic" pitchFamily="34" charset="-120"/>
              </a:rPr>
              <a:t>まだ出来ていないこと（次の一手）</a:t>
            </a:r>
            <a:endParaRPr lang="en-US" sz="1150" dirty="0"/>
          </a:p>
        </p:txBody>
      </p:sp>
      <p:sp>
        <p:nvSpPr>
          <p:cNvPr id="20" name="Text 18"/>
          <p:cNvSpPr txBox="1"/>
          <p:nvPr/>
        </p:nvSpPr>
        <p:spPr>
          <a:xfrm>
            <a:off x="6583680" y="3429000"/>
            <a:ext cx="5029200" cy="23774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232A36"/>
                </a:solidFill>
                <a:latin typeface="Yu Gothic" pitchFamily="34" charset="0"/>
                <a:ea typeface="Yu Gothic" pitchFamily="34" charset="-122"/>
                <a:cs typeface="Yu Gothic" pitchFamily="34" charset="-120"/>
              </a:rPr>
              <a:t>Snowflake は target を用意しただけで未実行。まず接続して同じモデルを流す。</a:t>
            </a:r>
            <a:endParaRPr lang="en-US" sz="1100" dirty="0"/>
          </a:p>
          <a:p>
            <a:pPr marL="342900" indent="-342900">
              <a:lnSpc>
                <a:spcPts val="1700"/>
              </a:lnSpc>
              <a:spcAft>
                <a:spcPts val="700"/>
              </a:spcAft>
              <a:buSzPct val="100000"/>
              <a:buChar char="•"/>
            </a:pPr>
            <a:r>
              <a:rPr lang="en-US" sz="1100" dirty="0">
                <a:solidFill>
                  <a:srgbClr val="232A36"/>
                </a:solidFill>
                <a:latin typeface="Yu Gothic" pitchFamily="34" charset="0"/>
                <a:ea typeface="Yu Gothic" pitchFamily="34" charset="-122"/>
                <a:cs typeface="Yu Gothic" pitchFamily="34" charset="-120"/>
              </a:rPr>
              <a:t>同一チャネル内の数量割引バイアスが未処理。数量帯で分けるか中央値を使う。</a:t>
            </a:r>
            <a:endParaRPr lang="en-US" sz="1100" dirty="0"/>
          </a:p>
          <a:p>
            <a:pPr marL="342900" indent="-342900">
              <a:lnSpc>
                <a:spcPts val="1700"/>
              </a:lnSpc>
              <a:spcAft>
                <a:spcPts val="700"/>
              </a:spcAft>
              <a:buSzPct val="100000"/>
              <a:buChar char="•"/>
            </a:pPr>
            <a:r>
              <a:rPr lang="en-US" sz="1100" dirty="0">
                <a:solidFill>
                  <a:srgbClr val="232A36"/>
                </a:solidFill>
                <a:latin typeface="Yu Gothic" pitchFamily="34" charset="0"/>
                <a:ea typeface="Yu Gothic" pitchFamily="34" charset="-122"/>
                <a:cs typeface="Yu Gothic" pitchFamily="34" charset="-120"/>
              </a:rPr>
              <a:t>カテゴリはキーワード分類で約 4 割が「その他」。LLM 分類＋人の確認に置き換えたい。</a:t>
            </a:r>
            <a:endParaRPr lang="en-US" sz="1100" dirty="0"/>
          </a:p>
          <a:p>
            <a:pPr marL="342900" indent="-342900">
              <a:lnSpc>
                <a:spcPts val="1700"/>
              </a:lnSpc>
              <a:spcAft>
                <a:spcPts val="700"/>
              </a:spcAft>
              <a:buSzPct val="100000"/>
              <a:buChar char="•"/>
            </a:pPr>
            <a:r>
              <a:rPr lang="en-US" sz="1100" dirty="0">
                <a:solidFill>
                  <a:srgbClr val="232A36"/>
                </a:solidFill>
                <a:latin typeface="Yu Gothic" pitchFamily="34" charset="0"/>
                <a:ea typeface="Yu Gothic" pitchFamily="34" charset="-122"/>
                <a:cs typeface="Yu Gothic" pitchFamily="34" charset="-120"/>
              </a:rPr>
              <a:t>eval が 20/20 = まだ易しい。曖昧な質問や、集計できない列を足す罠を追加する。</a:t>
            </a:r>
            <a:endParaRPr lang="en-US" sz="1100" dirty="0"/>
          </a:p>
          <a:p>
            <a:pPr marL="342900" indent="-342900">
              <a:lnSpc>
                <a:spcPts val="1700"/>
              </a:lnSpc>
              <a:spcAft>
                <a:spcPts val="700"/>
              </a:spcAft>
              <a:buSzPct val="100000"/>
              <a:buChar char="•"/>
            </a:pPr>
            <a:r>
              <a:rPr lang="en-US" sz="1100" dirty="0">
                <a:solidFill>
                  <a:srgbClr val="232A36"/>
                </a:solidFill>
                <a:latin typeface="Yu Gothic" pitchFamily="34" charset="0"/>
                <a:ea typeface="Yu Gothic" pitchFamily="34" charset="-122"/>
                <a:cs typeface="Yu Gothic" pitchFamily="34" charset="-120"/>
              </a:rPr>
              <a:t>月次連鎖のドリフトは未検証。GEKS-Törnqvist と突き合わせたい。</a:t>
            </a:r>
            <a:endParaRPr lang="en-US" sz="1100" dirty="0"/>
          </a:p>
        </p:txBody>
      </p:sp>
      <p:sp>
        <p:nvSpPr>
          <p:cNvPr id="21" name="Text 19"/>
          <p:cNvSpPr txBox="1"/>
          <p:nvPr/>
        </p:nvSpPr>
        <p:spPr>
          <a:xfrm>
            <a:off x="548640" y="6035040"/>
            <a:ext cx="11064240" cy="256032"/>
          </a:xfrm>
          <a:prstGeom prst="rect">
            <a:avLst/>
          </a:prstGeom>
          <a:noFill/>
          <a:ln/>
        </p:spPr>
        <p:txBody>
          <a:bodyPr wrap="square" lIns="0" tIns="0" rIns="0" bIns="0" rtlCol="0" anchor="ctr"/>
          <a:lstStyle/>
          <a:p>
            <a:pPr indent="0" marL="0">
              <a:buNone/>
            </a:pPr>
            <a:r>
              <a:rPr lang="en-US" sz="1050" dirty="0">
                <a:solidFill>
                  <a:srgbClr val="636C7C"/>
                </a:solidFill>
                <a:latin typeface="Yu Gothic" pitchFamily="34" charset="0"/>
                <a:ea typeface="Yu Gothic" pitchFamily="34" charset="-122"/>
                <a:cs typeface="Yu Gothic" pitchFamily="34" charset="-120"/>
              </a:rPr>
              <a:t>github.com/Calista0429/mini-nowcast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Nowcast - 技術資料</dc:title>
  <dc:subject>PptxGenJS Presentation</dc:subject>
  <dc:creator>Mini Nowcast</dc:creator>
  <cp:lastModifiedBy>Mini Nowcast</cp:lastModifiedBy>
  <cp:revision>1</cp:revision>
  <dcterms:created xsi:type="dcterms:W3CDTF">2026-09-23T08:40:03Z</dcterms:created>
  <dcterms:modified xsi:type="dcterms:W3CDTF">2026-09-23T08:40:03Z</dcterms:modified>
</cp:coreProperties>
</file>